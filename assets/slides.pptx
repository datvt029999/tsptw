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27"/>
  </p:notesMasterIdLst>
  <p:handoutMasterIdLst>
    <p:handoutMasterId r:id="rId28"/>
  </p:handoutMasterIdLst>
  <p:sldIdLst>
    <p:sldId id="257" r:id="rId2"/>
    <p:sldId id="278" r:id="rId3"/>
    <p:sldId id="265" r:id="rId4"/>
    <p:sldId id="275" r:id="rId5"/>
    <p:sldId id="293" r:id="rId6"/>
    <p:sldId id="276" r:id="rId7"/>
    <p:sldId id="294" r:id="rId8"/>
    <p:sldId id="295" r:id="rId9"/>
    <p:sldId id="277" r:id="rId10"/>
    <p:sldId id="279" r:id="rId11"/>
    <p:sldId id="280" r:id="rId12"/>
    <p:sldId id="281" r:id="rId13"/>
    <p:sldId id="283" r:id="rId14"/>
    <p:sldId id="284" r:id="rId15"/>
    <p:sldId id="296" r:id="rId16"/>
    <p:sldId id="285" r:id="rId17"/>
    <p:sldId id="286" r:id="rId18"/>
    <p:sldId id="287" r:id="rId19"/>
    <p:sldId id="297" r:id="rId20"/>
    <p:sldId id="290" r:id="rId21"/>
    <p:sldId id="289" r:id="rId22"/>
    <p:sldId id="288" r:id="rId23"/>
    <p:sldId id="291" r:id="rId24"/>
    <p:sldId id="292" r:id="rId25"/>
    <p:sldId id="269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13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6/17/2026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6/17/2026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6/17/2026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6/17/2026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6/17/2026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6/17/2026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6/17/2026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5" r:id="rId3"/>
    <p:sldLayoutId id="2147483683" r:id="rId4"/>
    <p:sldLayoutId id="2147483679" r:id="rId5"/>
    <p:sldLayoutId id="2147483680" r:id="rId6"/>
    <p:sldLayoutId id="2147483681" r:id="rId7"/>
    <p:sldLayoutId id="2147483682" r:id="rId8"/>
    <p:sldLayoutId id="2147483678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2421636"/>
            <a:ext cx="7342482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5100" dirty="0"/>
              <a:t>BÁO CÁO BÀI TẬP LỚN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13012" y="3567622"/>
            <a:ext cx="7342482" cy="84879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2800" dirty="0"/>
              <a:t>Học </a:t>
            </a:r>
            <a:r>
              <a:rPr lang="en-US" sz="2800" dirty="0" err="1"/>
              <a:t>phần</a:t>
            </a:r>
            <a:r>
              <a:rPr lang="en-US" sz="2800" dirty="0"/>
              <a:t>:</a:t>
            </a:r>
            <a:r>
              <a:rPr lang="en-US" sz="2800" b="0" dirty="0"/>
              <a:t> </a:t>
            </a:r>
            <a:r>
              <a:rPr lang="en-US" sz="2800" b="0" dirty="0" err="1"/>
              <a:t>Tối</a:t>
            </a:r>
            <a:r>
              <a:rPr lang="en-US" sz="2800" b="0" dirty="0"/>
              <a:t> </a:t>
            </a:r>
            <a:r>
              <a:rPr lang="en-US" sz="2800" b="0" dirty="0" err="1"/>
              <a:t>ưu</a:t>
            </a:r>
            <a:r>
              <a:rPr lang="en-US" sz="2800" b="0" dirty="0"/>
              <a:t> </a:t>
            </a:r>
            <a:r>
              <a:rPr lang="en-US" sz="2800" b="0" dirty="0" err="1"/>
              <a:t>lập</a:t>
            </a:r>
            <a:r>
              <a:rPr lang="en-US" sz="2800" b="0" dirty="0"/>
              <a:t> </a:t>
            </a:r>
            <a:r>
              <a:rPr lang="en-US" sz="2800" b="0" dirty="0" err="1"/>
              <a:t>kế</a:t>
            </a:r>
            <a:r>
              <a:rPr lang="en-US" sz="2800" b="0" dirty="0"/>
              <a:t> </a:t>
            </a:r>
            <a:r>
              <a:rPr lang="en-US" sz="2800" b="0" dirty="0" err="1"/>
              <a:t>hoạch</a:t>
            </a:r>
            <a:endParaRPr lang="en-US" sz="2800" b="0" dirty="0"/>
          </a:p>
          <a:p>
            <a:r>
              <a:rPr lang="en-US" sz="2800" dirty="0" err="1"/>
              <a:t>Mã</a:t>
            </a:r>
            <a:r>
              <a:rPr lang="en-US" sz="2800" dirty="0"/>
              <a:t> </a:t>
            </a:r>
            <a:r>
              <a:rPr lang="en-US" sz="2800" dirty="0" err="1"/>
              <a:t>học</a:t>
            </a:r>
            <a:r>
              <a:rPr lang="en-US" sz="2800" dirty="0"/>
              <a:t> </a:t>
            </a:r>
            <a:r>
              <a:rPr lang="en-US" sz="2800" dirty="0" err="1"/>
              <a:t>phần</a:t>
            </a:r>
            <a:r>
              <a:rPr lang="en-US" sz="2800" dirty="0"/>
              <a:t>:</a:t>
            </a:r>
            <a:r>
              <a:rPr lang="en-US" sz="2800" b="0" dirty="0"/>
              <a:t> IT4663</a:t>
            </a:r>
          </a:p>
          <a:p>
            <a:r>
              <a:rPr lang="en-US" sz="2800" dirty="0" err="1"/>
              <a:t>Nhóm</a:t>
            </a:r>
            <a:r>
              <a:rPr lang="en-US" sz="2800" dirty="0"/>
              <a:t>:</a:t>
            </a:r>
            <a:r>
              <a:rPr lang="en-US" sz="2800" b="0" dirty="0"/>
              <a:t> 8</a:t>
            </a:r>
          </a:p>
          <a:p>
            <a:r>
              <a:rPr lang="en-US" sz="2800" dirty="0" err="1"/>
              <a:t>Chủ</a:t>
            </a:r>
            <a:r>
              <a:rPr lang="en-US" sz="2800" dirty="0"/>
              <a:t> </a:t>
            </a:r>
            <a:r>
              <a:rPr lang="en-US" sz="2800" dirty="0" err="1"/>
              <a:t>đề</a:t>
            </a:r>
            <a:r>
              <a:rPr lang="en-US" sz="2800" dirty="0"/>
              <a:t>:</a:t>
            </a:r>
            <a:r>
              <a:rPr lang="en-US" sz="2800" b="0" dirty="0"/>
              <a:t> 12</a:t>
            </a:r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A6A1C-BFB8-C236-912B-7D76B5EFD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A6274E-89B2-85E7-9CE1-C4DB05B42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B23E53-C3B1-E557-3436-19002C497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THỐNG KÊ CÔNG VIỆC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927FB0-F063-4D5D-8E06-1B22F62E9C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/>
              <a:t>Vũ Tiến Đạt: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dung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lớn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nhóm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8960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TỔNG QUAN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571500" indent="-571500" algn="just">
              <a:buFont typeface="+mj-lt"/>
              <a:buAutoNum type="romanUcPeriod"/>
            </a:pPr>
            <a:r>
              <a:rPr lang="en-US" dirty="0"/>
              <a:t>PHÁT BIỂU BÀI TOÁN</a:t>
            </a:r>
          </a:p>
          <a:p>
            <a:pPr marL="571500" indent="-571500" algn="just">
              <a:buFont typeface="+mj-lt"/>
              <a:buAutoNum type="romanUcPeriod"/>
            </a:pPr>
            <a:r>
              <a:rPr lang="en-US" dirty="0"/>
              <a:t>CÁC PHƯƠNG PHÁP GIẢI CHÍNH XÁC</a:t>
            </a:r>
          </a:p>
          <a:p>
            <a:pPr marL="571500" indent="-571500" algn="just">
              <a:buFont typeface="+mj-lt"/>
              <a:buAutoNum type="romanUcPeriod"/>
            </a:pPr>
            <a:r>
              <a:rPr lang="en-US" dirty="0"/>
              <a:t>MÔ HÌNH HÓA BÀI TOÁN</a:t>
            </a:r>
          </a:p>
          <a:p>
            <a:pPr marL="571500" indent="-571500" algn="just">
              <a:buFont typeface="+mj-lt"/>
              <a:buAutoNum type="romanUcPeriod"/>
            </a:pPr>
            <a:r>
              <a:rPr lang="en-US" dirty="0"/>
              <a:t>CÁC PHƯƠNG PHÁP THAM LAM</a:t>
            </a:r>
          </a:p>
          <a:p>
            <a:pPr marL="571500" indent="-571500" algn="just">
              <a:buFont typeface="+mj-lt"/>
              <a:buAutoNum type="romanUcPeriod"/>
            </a:pPr>
            <a:r>
              <a:rPr lang="en-US" dirty="0"/>
              <a:t>CÁC PHƯƠNG PHÁP TÌM KIẾM CỤC BỘ</a:t>
            </a:r>
          </a:p>
          <a:p>
            <a:pPr marL="571500" indent="-571500" algn="just">
              <a:buFont typeface="+mj-lt"/>
              <a:buAutoNum type="romanUcPeriod"/>
            </a:pPr>
            <a:r>
              <a:rPr lang="en-US" dirty="0"/>
              <a:t>KẾT QUẢ THỰC NGHIỆM</a:t>
            </a:r>
          </a:p>
        </p:txBody>
      </p:sp>
    </p:spTree>
    <p:extLst>
      <p:ext uri="{BB962C8B-B14F-4D97-AF65-F5344CB8AC3E}">
        <p14:creationId xmlns:p14="http://schemas.microsoft.com/office/powerpoint/2010/main" val="292364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FD2E5-6CE8-AA03-CC97-8BC919D49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7B7A59-D551-667F-7698-1DD3A62BE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9E285F-35B6-C18F-37DC-9B1934E4F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/>
            </a:pPr>
            <a:r>
              <a:rPr lang="en-US" dirty="0"/>
              <a:t>PHÁT BIỂU BÀI TOÁN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78BA0017-B7A9-6180-9798-358D9369F8C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algn="just"/>
                <a:r>
                  <a:rPr lang="en-US" dirty="0"/>
                  <a:t>Người </a:t>
                </a:r>
                <a:r>
                  <a:rPr lang="vi-VN" dirty="0"/>
                  <a:t>giao hàng lấy hàng ở kho (điểm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vi-VN" dirty="0"/>
                  <a:t>) và cần giao hàng cho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vi-VN" dirty="0"/>
                  <a:t> khách hàng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1,2,…,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vi-VN" dirty="0"/>
                  <a:t>.</a:t>
                </a:r>
              </a:p>
              <a:p>
                <a:pPr algn="just"/>
                <a:r>
                  <a:rPr lang="vi-VN" dirty="0"/>
                  <a:t>Khách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vi-VN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yêu</a:t>
                </a:r>
                <a:r>
                  <a:rPr lang="en-US" dirty="0"/>
                  <a:t> </a:t>
                </a:r>
                <a:r>
                  <a:rPr lang="en-US" dirty="0" err="1"/>
                  <a:t>cầu</a:t>
                </a:r>
                <a:r>
                  <a:rPr lang="vi-VN" dirty="0"/>
                  <a:t> giao hàng trong khoảng thời gian từ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vi-VN" dirty="0"/>
                  <a:t> đến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vi-VN" dirty="0"/>
                  <a:t> và</a:t>
                </a:r>
                <a:r>
                  <a:rPr lang="en-US" dirty="0"/>
                  <a:t> </a:t>
                </a:r>
                <a:r>
                  <a:rPr lang="en-US" dirty="0" err="1"/>
                  <a:t>việc</a:t>
                </a:r>
                <a:r>
                  <a:rPr lang="vi-VN" dirty="0"/>
                  <a:t> giao hàng </a:t>
                </a:r>
                <a:r>
                  <a:rPr lang="en-US" dirty="0" err="1"/>
                  <a:t>cần</a:t>
                </a:r>
                <a:r>
                  <a:rPr lang="vi-VN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vi-VN" dirty="0"/>
                  <a:t> đơn vị thời gian.</a:t>
                </a: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vi-VN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  <a:r>
                  <a:rPr lang="vi-VN" dirty="0"/>
                  <a:t> </a:t>
                </a:r>
                <a:r>
                  <a:rPr lang="en-US" dirty="0"/>
                  <a:t>T</a:t>
                </a:r>
                <a:r>
                  <a:rPr lang="vi-VN" dirty="0"/>
                  <a:t>hời gian </a:t>
                </a:r>
                <a:r>
                  <a:rPr lang="en-US" dirty="0" err="1"/>
                  <a:t>đi</a:t>
                </a:r>
                <a:r>
                  <a:rPr lang="en-US" dirty="0"/>
                  <a:t>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.</a:t>
                </a:r>
                <a:endParaRPr lang="vi-VN" dirty="0"/>
              </a:p>
              <a:p>
                <a:pPr algn="just"/>
                <a:r>
                  <a:rPr lang="en-US" dirty="0" err="1"/>
                  <a:t>Tìm</a:t>
                </a:r>
                <a:r>
                  <a:rPr lang="vi-VN" dirty="0"/>
                  <a:t> lộ trình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hàng</a:t>
                </a:r>
                <a:r>
                  <a:rPr lang="vi-VN" dirty="0"/>
                  <a:t> </a:t>
                </a:r>
                <a:r>
                  <a:rPr lang="en-US" dirty="0" err="1"/>
                  <a:t>để</a:t>
                </a:r>
                <a:r>
                  <a:rPr lang="vi-VN" dirty="0"/>
                  <a:t> tổng thời gian di chuyển</a:t>
                </a:r>
                <a:r>
                  <a:rPr lang="en-US" dirty="0"/>
                  <a:t> (</a:t>
                </a:r>
                <a:r>
                  <a:rPr lang="en-US" dirty="0" err="1"/>
                  <a:t>tính</a:t>
                </a:r>
                <a:r>
                  <a:rPr lang="en-US" dirty="0"/>
                  <a:t> </a:t>
                </a:r>
                <a:r>
                  <a:rPr lang="en-US" dirty="0" err="1"/>
                  <a:t>cả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quay </a:t>
                </a:r>
                <a:r>
                  <a:rPr lang="en-US" dirty="0" err="1"/>
                  <a:t>về</a:t>
                </a:r>
                <a:r>
                  <a:rPr lang="en-US" dirty="0"/>
                  <a:t> </a:t>
                </a:r>
                <a:r>
                  <a:rPr lang="en-US" dirty="0" err="1"/>
                  <a:t>kho</a:t>
                </a:r>
                <a:r>
                  <a:rPr lang="en-US" dirty="0"/>
                  <a:t> </a:t>
                </a:r>
                <a:r>
                  <a:rPr lang="en-US" dirty="0" err="1"/>
                  <a:t>sau</a:t>
                </a:r>
                <a:r>
                  <a:rPr lang="en-US" dirty="0"/>
                  <a:t> 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:r>
                  <a:rPr lang="en-US" dirty="0" err="1"/>
                  <a:t>phục</a:t>
                </a:r>
                <a:r>
                  <a:rPr lang="en-US" dirty="0"/>
                  <a:t> </a:t>
                </a:r>
                <a:r>
                  <a:rPr lang="en-US" dirty="0" err="1"/>
                  <a:t>vụ</a:t>
                </a:r>
                <a:r>
                  <a:rPr lang="en-US" dirty="0"/>
                  <a:t> </a:t>
                </a:r>
                <a:r>
                  <a:rPr lang="en-US" dirty="0" err="1"/>
                  <a:t>xong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khách)</a:t>
                </a:r>
                <a:r>
                  <a:rPr lang="vi-VN" dirty="0"/>
                  <a:t> là </a:t>
                </a:r>
                <a:r>
                  <a:rPr lang="en-US" dirty="0" err="1"/>
                  <a:t>nhỏ</a:t>
                </a:r>
                <a:r>
                  <a:rPr lang="en-US" dirty="0"/>
                  <a:t> </a:t>
                </a:r>
                <a:r>
                  <a:rPr lang="vi-VN" dirty="0"/>
                  <a:t>nhất.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78BA0017-B7A9-6180-9798-358D9369F8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266" t="-2138" r="-1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687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819D9-270D-60BC-EC91-830C6A4F4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063960-122B-8F62-EC66-5738631C8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237A1-BB64-389E-832A-50B391AE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2"/>
            </a:pPr>
            <a:r>
              <a:rPr lang="en-US" dirty="0"/>
              <a:t>CÁC PHƯƠNG PHÁP GIẢI CHÍNH XÁC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7981328F-D0EF-1878-46BB-8ED8C0D220D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/>
                </a:pPr>
                <a:r>
                  <a:rPr lang="en-US" b="1" dirty="0"/>
                  <a:t>Quay </a:t>
                </a:r>
                <a:r>
                  <a:rPr lang="en-US" b="1" dirty="0" err="1"/>
                  <a:t>lui</a:t>
                </a:r>
                <a:r>
                  <a:rPr lang="en-US" b="1" dirty="0"/>
                  <a:t> </a:t>
                </a:r>
                <a:r>
                  <a:rPr lang="en-US" b="1" dirty="0" err="1"/>
                  <a:t>kết</a:t>
                </a:r>
                <a:r>
                  <a:rPr lang="en-US" b="1" dirty="0"/>
                  <a:t> </a:t>
                </a:r>
                <a:r>
                  <a:rPr lang="en-US" b="1" dirty="0" err="1"/>
                  <a:t>hợp</a:t>
                </a:r>
                <a:r>
                  <a:rPr lang="en-US" b="1" dirty="0"/>
                  <a:t> </a:t>
                </a:r>
                <a:r>
                  <a:rPr lang="en-US" b="1" dirty="0" err="1"/>
                  <a:t>nhánh</a:t>
                </a:r>
                <a:r>
                  <a:rPr lang="en-US" b="1" dirty="0"/>
                  <a:t> </a:t>
                </a:r>
                <a:r>
                  <a:rPr lang="en-US" b="1" dirty="0" err="1"/>
                  <a:t>cận</a:t>
                </a:r>
                <a:endParaRPr lang="en-US" b="1" dirty="0"/>
              </a:p>
              <a:p>
                <a:pPr algn="just"/>
                <a:r>
                  <a:rPr lang="en-US" dirty="0" err="1"/>
                  <a:t>Xây</a:t>
                </a:r>
                <a:r>
                  <a:rPr lang="en-US" dirty="0"/>
                  <a:t> </a:t>
                </a:r>
                <a:r>
                  <a:rPr lang="en-US" dirty="0" err="1"/>
                  <a:t>dựng</a:t>
                </a:r>
                <a:r>
                  <a:rPr lang="en-US" dirty="0"/>
                  <a:t> </a:t>
                </a:r>
                <a:r>
                  <a:rPr lang="en-US" dirty="0" err="1"/>
                  <a:t>lời</a:t>
                </a:r>
                <a:endParaRPr lang="en-US" dirty="0"/>
              </a:p>
              <a:p>
                <a:pPr marL="0" indent="0" algn="just">
                  <a:buNone/>
                </a:pPr>
                <a:r>
                  <a:rPr lang="en-US" dirty="0" err="1"/>
                  <a:t>giải</a:t>
                </a:r>
                <a:r>
                  <a:rPr lang="en-US" dirty="0"/>
                  <a:t> </a:t>
                </a:r>
                <a:r>
                  <a:rPr lang="en-US" dirty="0" err="1"/>
                  <a:t>bộ</a:t>
                </a:r>
                <a:r>
                  <a:rPr lang="en-US" dirty="0"/>
                  <a:t> </a:t>
                </a:r>
                <a:r>
                  <a:rPr lang="en-US" dirty="0" err="1"/>
                  <a:t>phận</a:t>
                </a:r>
                <a:endParaRPr lang="en-US" dirty="0"/>
              </a:p>
              <a:p>
                <a:pPr marL="0" indent="0" algn="just">
                  <a:buNone/>
                </a:pP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cách</a:t>
                </a:r>
                <a:r>
                  <a:rPr lang="en-US" dirty="0"/>
                  <a:t> </a:t>
                </a:r>
                <a:r>
                  <a:rPr lang="en-US" dirty="0" err="1"/>
                  <a:t>chọn</a:t>
                </a:r>
                <a:endParaRPr lang="en-US" dirty="0"/>
              </a:p>
              <a:p>
                <a:pPr marL="0" indent="0" algn="just">
                  <a:buNone/>
                </a:pP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tiếp</a:t>
                </a:r>
                <a:r>
                  <a:rPr lang="en-US" dirty="0"/>
                  <a:t> </a:t>
                </a:r>
                <a:r>
                  <a:rPr lang="en-US" dirty="0" err="1"/>
                  <a:t>theo</a:t>
                </a:r>
                <a:endParaRPr lang="en-US" dirty="0"/>
              </a:p>
              <a:p>
                <a:pPr marL="0" indent="0" algn="just">
                  <a:buNone/>
                </a:pPr>
                <a:r>
                  <a:rPr lang="en-US" dirty="0" err="1"/>
                  <a:t>thỏa</a:t>
                </a:r>
                <a:r>
                  <a:rPr lang="en-US" dirty="0"/>
                  <a:t> </a:t>
                </a:r>
                <a:r>
                  <a:rPr lang="en-US" dirty="0" err="1"/>
                  <a:t>mãn</a:t>
                </a:r>
                <a:r>
                  <a:rPr lang="en-US" dirty="0"/>
                  <a:t> </a:t>
                </a:r>
                <a:r>
                  <a:rPr lang="en-US" dirty="0" err="1"/>
                  <a:t>ràng</a:t>
                </a:r>
                <a:endParaRPr lang="en-US" dirty="0"/>
              </a:p>
              <a:p>
                <a:pPr marL="0" indent="0" algn="just">
                  <a:buNone/>
                </a:pPr>
                <a:r>
                  <a:rPr lang="en-US" dirty="0" err="1"/>
                  <a:t>buộc</a:t>
                </a:r>
                <a:r>
                  <a:rPr lang="en-US" dirty="0"/>
                  <a:t> </a:t>
                </a:r>
                <a:r>
                  <a:rPr lang="en-US" dirty="0" err="1"/>
                  <a:t>cửa</a:t>
                </a:r>
                <a:r>
                  <a:rPr lang="en-US" dirty="0"/>
                  <a:t> </a:t>
                </a:r>
                <a:r>
                  <a:rPr lang="en-US" dirty="0" err="1"/>
                  <a:t>sổ</a:t>
                </a:r>
                <a:endParaRPr lang="en-US" dirty="0"/>
              </a:p>
              <a:p>
                <a:pPr marL="0" indent="0" algn="just">
                  <a:buNone/>
                </a:pP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.</a:t>
                </a:r>
              </a:p>
              <a:p>
                <a:pPr algn="just"/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endParaRPr lang="en-US" dirty="0"/>
              </a:p>
              <a:p>
                <a:pPr marL="0" indent="0" algn="just">
                  <a:buNone/>
                </a:pP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!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7981328F-D0EF-1878-46BB-8ED8C0D220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77" t="-2019" b="-2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761873E-A474-3800-B518-2BF02794E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999" y="1735738"/>
            <a:ext cx="6062924" cy="4052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327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2983C-4A5F-A8BD-5AC9-6685B78B2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141262-282B-1EC0-0B99-4879EC3A8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DF841A-C581-6C85-AC75-F1AABB19C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2"/>
            </a:pPr>
            <a:r>
              <a:rPr lang="en-US" dirty="0"/>
              <a:t>CÁC PHƯƠNG PHÁP GIẢI CHÍNH XÁC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443BC95-121D-E11D-EA40-646504A393F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 startAt="2"/>
                </a:pPr>
                <a:r>
                  <a:rPr lang="en-US" b="1" dirty="0"/>
                  <a:t>Quy </a:t>
                </a:r>
                <a:r>
                  <a:rPr lang="en-US" b="1" dirty="0" err="1"/>
                  <a:t>hoạch</a:t>
                </a:r>
                <a:r>
                  <a:rPr lang="en-US" b="1" dirty="0"/>
                  <a:t> </a:t>
                </a:r>
                <a:r>
                  <a:rPr lang="en-US" b="1" dirty="0" err="1"/>
                  <a:t>động</a:t>
                </a:r>
                <a:r>
                  <a:rPr lang="en-US" b="1" dirty="0"/>
                  <a:t> </a:t>
                </a:r>
                <a:r>
                  <a:rPr lang="en-US" b="1" dirty="0" err="1"/>
                  <a:t>với</a:t>
                </a:r>
                <a:r>
                  <a:rPr lang="en-US" b="1" dirty="0"/>
                  <a:t> </a:t>
                </a:r>
                <a:r>
                  <a:rPr lang="en-US" b="1" dirty="0" err="1"/>
                  <a:t>mặt</a:t>
                </a:r>
                <a:r>
                  <a:rPr lang="en-US" b="1" dirty="0"/>
                  <a:t> </a:t>
                </a:r>
                <a:r>
                  <a:rPr lang="en-US" b="1" dirty="0" err="1"/>
                  <a:t>nạ</a:t>
                </a:r>
                <a:r>
                  <a:rPr lang="en-US" b="1" dirty="0"/>
                  <a:t> bit</a:t>
                </a:r>
              </a:p>
              <a:p>
                <a:pPr marL="514350" indent="-514350" algn="just">
                  <a:buFont typeface="+mj-lt"/>
                  <a:buAutoNum type="alphaLcParenR"/>
                </a:pPr>
                <a:r>
                  <a:rPr lang="en-US" b="1" dirty="0"/>
                  <a:t>Định </a:t>
                </a:r>
                <a:r>
                  <a:rPr lang="en-US" b="1" dirty="0" err="1"/>
                  <a:t>nghĩa</a:t>
                </a:r>
                <a:r>
                  <a:rPr lang="en-US" b="1" dirty="0"/>
                  <a:t> </a:t>
                </a:r>
                <a:r>
                  <a:rPr lang="en-US" b="1" dirty="0" err="1"/>
                  <a:t>biến</a:t>
                </a:r>
                <a:endParaRPr lang="en-US" b="1" dirty="0"/>
              </a:p>
              <a:p>
                <a:pPr algn="just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dirty="0">
                        <a:latin typeface="Cambria Math" panose="02040503050406030204" pitchFamily="18" charset="0"/>
                      </a:rPr>
                      <m:t>⊆</m:t>
                    </m:r>
                    <m:d>
                      <m:dPr>
                        <m:begChr m:val="{"/>
                        <m:endChr m:val="}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1, 2, …,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Tập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đã</a:t>
                </a:r>
                <a:r>
                  <a:rPr lang="en-US" dirty="0"/>
                  <a:t> </a:t>
                </a:r>
                <a:r>
                  <a:rPr lang="en-US" dirty="0" err="1"/>
                  <a:t>phục</a:t>
                </a:r>
                <a:r>
                  <a:rPr lang="en-US" dirty="0"/>
                  <a:t> </a:t>
                </a:r>
                <a:r>
                  <a:rPr lang="en-US" dirty="0" err="1"/>
                  <a:t>vụ</a:t>
                </a:r>
                <a:r>
                  <a:rPr lang="en-US" dirty="0"/>
                  <a:t>.</a:t>
                </a:r>
              </a:p>
              <a:p>
                <a:pPr algn="just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cuối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lộ</a:t>
                </a:r>
                <a:r>
                  <a:rPr lang="en-US" dirty="0"/>
                  <a:t> </a:t>
                </a:r>
                <a:r>
                  <a:rPr lang="en-US" dirty="0" err="1"/>
                  <a:t>trình</a:t>
                </a:r>
                <a:r>
                  <a:rPr lang="en-US" dirty="0"/>
                  <a:t> </a:t>
                </a:r>
                <a:r>
                  <a:rPr lang="en-US" dirty="0" err="1"/>
                  <a:t>hiện</a:t>
                </a:r>
                <a:r>
                  <a:rPr lang="en-US" dirty="0"/>
                  <a:t> </a:t>
                </a:r>
                <a:r>
                  <a:rPr lang="en-US" dirty="0" err="1"/>
                  <a:t>tại</a:t>
                </a:r>
                <a:r>
                  <a:rPr lang="en-US" dirty="0"/>
                  <a:t>.</a:t>
                </a:r>
              </a:p>
              <a:p>
                <a:pPr algn="just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Tổng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di </a:t>
                </a:r>
                <a:r>
                  <a:rPr lang="en-US" dirty="0" err="1"/>
                  <a:t>chuyển</a:t>
                </a:r>
                <a:r>
                  <a:rPr lang="en-US" dirty="0"/>
                  <a:t> </a:t>
                </a:r>
                <a:r>
                  <a:rPr lang="en-US" dirty="0" err="1"/>
                  <a:t>nhỏ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lộ</a:t>
                </a:r>
                <a:r>
                  <a:rPr lang="en-US" dirty="0"/>
                  <a:t> </a:t>
                </a:r>
                <a:r>
                  <a:rPr lang="en-US" dirty="0" err="1"/>
                  <a:t>trình</a:t>
                </a:r>
                <a:r>
                  <a:rPr lang="en-US" dirty="0"/>
                  <a:t> </a:t>
                </a:r>
                <a:r>
                  <a:rPr lang="en-US" dirty="0" err="1"/>
                  <a:t>đi</a:t>
                </a:r>
                <a:r>
                  <a:rPr lang="en-US" dirty="0"/>
                  <a:t>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:r>
                  <a:rPr lang="en-US" dirty="0" err="1"/>
                  <a:t>kho</a:t>
                </a:r>
                <a:r>
                  <a:rPr lang="en-US" dirty="0"/>
                  <a:t>, </a:t>
                </a:r>
                <a:r>
                  <a:rPr lang="en-US" dirty="0" err="1"/>
                  <a:t>phục</a:t>
                </a:r>
                <a:r>
                  <a:rPr lang="en-US" dirty="0"/>
                  <a:t> </a:t>
                </a:r>
                <a:r>
                  <a:rPr lang="en-US" dirty="0" err="1"/>
                  <a:t>vụ</a:t>
                </a:r>
                <a:r>
                  <a:rPr lang="en-US" dirty="0"/>
                  <a:t> </a:t>
                </a:r>
                <a:r>
                  <a:rPr lang="en-US" dirty="0" err="1"/>
                  <a:t>đúng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trí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tại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443BC95-121D-E11D-EA40-646504A393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 r="-1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5358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7E09E-2648-673A-9F8A-130BFC372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DA5C45-E699-0DBF-F558-21BD2DC7F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10F0C04-F13A-DB2F-8A09-CE367E5F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2"/>
            </a:pPr>
            <a:r>
              <a:rPr lang="en-US" dirty="0"/>
              <a:t>CÁC PHƯƠNG PHÁP GIẢI CHÍNH XÁC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87A53DD-EDF6-3C9F-87DB-A6EBAB640A2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 startAt="2"/>
                </a:pPr>
                <a:r>
                  <a:rPr lang="en-US" b="1" dirty="0"/>
                  <a:t>Quy </a:t>
                </a:r>
                <a:r>
                  <a:rPr lang="en-US" b="1" dirty="0" err="1"/>
                  <a:t>hoạch</a:t>
                </a:r>
                <a:r>
                  <a:rPr lang="en-US" b="1" dirty="0"/>
                  <a:t> </a:t>
                </a:r>
                <a:r>
                  <a:rPr lang="en-US" b="1" dirty="0" err="1"/>
                  <a:t>động</a:t>
                </a:r>
                <a:r>
                  <a:rPr lang="en-US" b="1" dirty="0"/>
                  <a:t> </a:t>
                </a:r>
                <a:r>
                  <a:rPr lang="en-US" b="1" dirty="0" err="1"/>
                  <a:t>với</a:t>
                </a:r>
                <a:r>
                  <a:rPr lang="en-US" b="1" dirty="0"/>
                  <a:t> </a:t>
                </a:r>
                <a:r>
                  <a:rPr lang="en-US" b="1" dirty="0" err="1"/>
                  <a:t>mặt</a:t>
                </a:r>
                <a:r>
                  <a:rPr lang="en-US" b="1" dirty="0"/>
                  <a:t> </a:t>
                </a:r>
                <a:r>
                  <a:rPr lang="en-US" b="1" dirty="0" err="1"/>
                  <a:t>nạ</a:t>
                </a:r>
                <a:r>
                  <a:rPr lang="en-US" b="1" dirty="0"/>
                  <a:t> bit</a:t>
                </a:r>
              </a:p>
              <a:p>
                <a:pPr marL="514350" indent="-514350" algn="just">
                  <a:buFont typeface="+mj-lt"/>
                  <a:buAutoNum type="alphaLcParenR" startAt="2"/>
                </a:pPr>
                <a:r>
                  <a:rPr lang="en-US" b="1" dirty="0"/>
                  <a:t>Công </a:t>
                </a:r>
                <a:r>
                  <a:rPr lang="en-US" b="1" dirty="0" err="1"/>
                  <a:t>thức</a:t>
                </a:r>
                <a:r>
                  <a:rPr lang="en-US" b="1" dirty="0"/>
                  <a:t> </a:t>
                </a:r>
                <a:r>
                  <a:rPr lang="en-US" b="1" dirty="0" err="1"/>
                  <a:t>quy</a:t>
                </a:r>
                <a:r>
                  <a:rPr lang="en-US" b="1" dirty="0"/>
                  <a:t> </a:t>
                </a:r>
                <a:r>
                  <a:rPr lang="en-US" b="1" dirty="0" err="1"/>
                  <a:t>hoạch</a:t>
                </a:r>
                <a:r>
                  <a:rPr lang="en-US" b="1" dirty="0"/>
                  <a:t> </a:t>
                </a:r>
                <a:r>
                  <a:rPr lang="en-US" b="1" dirty="0" err="1"/>
                  <a:t>động</a:t>
                </a:r>
                <a:endParaRPr lang="en-US" b="1" dirty="0"/>
              </a:p>
              <a:p>
                <a:pPr algn="just"/>
                <a:r>
                  <a:rPr lang="en-US" dirty="0" err="1"/>
                  <a:t>Khởi</a:t>
                </a:r>
                <a:r>
                  <a:rPr lang="en-US" dirty="0"/>
                  <a:t> </a:t>
                </a:r>
                <a:r>
                  <a:rPr lang="en-US" dirty="0" err="1"/>
                  <a:t>tạo</a:t>
                </a:r>
                <a:r>
                  <a:rPr lang="en-US" dirty="0"/>
                  <a:t> </a:t>
                </a:r>
                <a:r>
                  <a:rPr lang="en-US" dirty="0" err="1"/>
                  <a:t>trạng</a:t>
                </a:r>
                <a:r>
                  <a:rPr lang="en-US" dirty="0"/>
                  <a:t> </a:t>
                </a:r>
                <a:r>
                  <a:rPr lang="en-US" dirty="0" err="1"/>
                  <a:t>thái</a:t>
                </a:r>
                <a:r>
                  <a:rPr lang="en-US" dirty="0"/>
                  <a:t> ban </a:t>
                </a:r>
                <a:r>
                  <a:rPr lang="en-US" dirty="0" err="1"/>
                  <a:t>đầu</a:t>
                </a:r>
                <a:r>
                  <a:rPr lang="en-US" dirty="0"/>
                  <a:t>:</a:t>
                </a:r>
                <a:endParaRPr lang="en-US" sz="1600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ế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ớ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0, 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+∞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ng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ượ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ạ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pPr algn="just"/>
                <a:r>
                  <a:rPr lang="en-US" dirty="0"/>
                  <a:t>Công </a:t>
                </a:r>
                <a:r>
                  <a:rPr lang="en-US" dirty="0" err="1"/>
                  <a:t>thức</a:t>
                </a:r>
                <a:r>
                  <a:rPr lang="en-US" dirty="0"/>
                  <a:t> </a:t>
                </a:r>
                <a:r>
                  <a:rPr lang="en-US" dirty="0" err="1"/>
                  <a:t>quy</a:t>
                </a:r>
                <a:r>
                  <a:rPr lang="en-US" dirty="0"/>
                  <a:t> </a:t>
                </a:r>
                <a:r>
                  <a:rPr lang="en-US" dirty="0" err="1"/>
                  <a:t>hoạch</a:t>
                </a:r>
                <a:r>
                  <a:rPr lang="en-US" dirty="0"/>
                  <a:t> </a:t>
                </a:r>
                <a:r>
                  <a:rPr lang="en-US" dirty="0" err="1"/>
                  <a:t>động</a:t>
                </a:r>
                <a:r>
                  <a:rPr lang="en-US" dirty="0"/>
                  <a:t>:</a:t>
                </a:r>
              </a:p>
              <a:p>
                <a:pPr marL="0" indent="0" algn="just">
                  <a:buNone/>
                </a:pPr>
                <a:endParaRPr lang="en-US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50" b="0" i="1" smtClean="0"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a:rPr lang="en-US" sz="225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5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25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25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5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25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25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2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5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sz="225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sz="225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250" i="0" smtClean="0">
                                          <a:latin typeface="Cambria Math" panose="02040503050406030204" pitchFamily="18" charset="0"/>
                                        </a:rPr>
                                        <m:t>min</m:t>
                                      </m:r>
                                    </m:e>
                                    <m:lim>
                                      <m:r>
                                        <a:rPr lang="en-US" sz="225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250" b="0" i="1" smtClean="0"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r>
                                        <a:rPr lang="en-US" sz="225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sz="2250" b="0" i="1" smtClean="0">
                                          <a:latin typeface="Cambria Math" panose="02040503050406030204" pitchFamily="18" charset="0"/>
                                        </a:rPr>
                                        <m:t>\</m:t>
                                      </m:r>
                                      <m:d>
                                        <m:dPr>
                                          <m:begChr m:val="{"/>
                                          <m:endChr m:val="}"/>
                                          <m:ctrlP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lim>
                                  </m:limLow>
                                </m:fName>
                                <m:e>
                                  <m:r>
                                    <a:rPr lang="en-US" sz="225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sz="225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5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sz="2250" i="1">
                                          <a:latin typeface="Cambria Math" panose="02040503050406030204" pitchFamily="18" charset="0"/>
                                        </a:rPr>
                                        <m:t>\</m:t>
                                      </m:r>
                                      <m:d>
                                        <m:dPr>
                                          <m:begChr m:val="{"/>
                                          <m:endChr m:val="}"/>
                                          <m:ctrlPr>
                                            <a:rPr lang="en-US" sz="225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5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en-US" sz="2250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sz="225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250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sz="225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225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sz="225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25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5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25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25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sz="225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US" sz="225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5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225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225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sz="2250" i="1">
                                  <a:latin typeface="Cambria Math" panose="02040503050406030204" pitchFamily="18" charset="0"/>
                                </a:rPr>
                                <m:t>ế</m:t>
                              </m:r>
                              <m:r>
                                <m:rPr>
                                  <m:nor/>
                                </m:rPr>
                                <a:rPr lang="en-US" sz="225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sz="225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5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25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en-US" sz="22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5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5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US" sz="225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225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sz="2250" i="1">
                                  <a:latin typeface="Cambria Math" panose="02040503050406030204" pitchFamily="18" charset="0"/>
                                </a:rPr>
                                <m:t>ớ</m:t>
                              </m:r>
                              <m:r>
                                <m:rPr>
                                  <m:nor/>
                                </m:rPr>
                                <a:rPr lang="en-US" sz="225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sz="225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225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sz="225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unc>
                                <m:funcPr>
                                  <m:ctrlPr>
                                    <a:rPr lang="en-US" sz="225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25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25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5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5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b>
                                          <m: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250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sSup>
                                        <m:sSupPr>
                                          <m:ctrlP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p>
                                          <m: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en-US" sz="225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sz="225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  <m:t>, </m:t>
                                          </m:r>
                                          <m:r>
                                            <a:rPr lang="en-US" sz="225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m:rPr>
                                  <m:nor/>
                                </m:rPr>
                                <a:rPr lang="en-US" sz="225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r>
                                <a:rPr lang="en-US" sz="2250" i="1">
                                  <a:latin typeface="Cambria Math" panose="02040503050406030204" pitchFamily="18" charset="0"/>
                                </a:rPr>
                                <m:t>+∞</m:t>
                              </m:r>
                              <m:r>
                                <m:rPr>
                                  <m:nor/>
                                </m:rPr>
                                <a:rPr lang="en-US" sz="225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sz="2250">
                                  <a:latin typeface="Cambria Math" panose="02040503050406030204" pitchFamily="18" charset="0"/>
                                </a:rPr>
                                <m:t>ng</m:t>
                              </m:r>
                              <m:r>
                                <a:rPr lang="en-US" sz="2250" i="1">
                                  <a:latin typeface="Cambria Math" panose="02040503050406030204" pitchFamily="18" charset="0"/>
                                </a:rPr>
                                <m:t>ượ</m:t>
                              </m:r>
                              <m:r>
                                <m:rPr>
                                  <m:nor/>
                                </m:rPr>
                                <a:rPr lang="en-US" sz="225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nor/>
                                </m:rPr>
                                <a:rPr lang="en-US" sz="225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225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  <m:r>
                                <a:rPr lang="en-US" sz="2250" i="1">
                                  <a:latin typeface="Cambria Math" panose="02040503050406030204" pitchFamily="18" charset="0"/>
                                </a:rPr>
                                <m:t>ạ</m:t>
                              </m:r>
                              <m:r>
                                <m:rPr>
                                  <m:nor/>
                                </m:rPr>
                                <a:rPr lang="en-US" sz="225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sz="2250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25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E87A53DD-EDF6-3C9F-87DB-A6EBAB640A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80566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14282-B7C1-8F47-D4D9-650663DBB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65357F-C5BE-BDA6-66A8-A1A81EFC6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103F02-1C5E-6C5C-CD87-86B24C540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2"/>
            </a:pPr>
            <a:r>
              <a:rPr lang="en-US" dirty="0"/>
              <a:t>CÁC PHƯƠNG PHÁP GIẢI CHÍNH XÁC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62BFEF82-5B29-531D-EDBD-789FE4DE13E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 startAt="2"/>
                </a:pPr>
                <a:r>
                  <a:rPr lang="en-US" b="1" dirty="0"/>
                  <a:t>Quy </a:t>
                </a:r>
                <a:r>
                  <a:rPr lang="en-US" b="1" dirty="0" err="1"/>
                  <a:t>hoạch</a:t>
                </a:r>
                <a:r>
                  <a:rPr lang="en-US" b="1" dirty="0"/>
                  <a:t> </a:t>
                </a:r>
                <a:r>
                  <a:rPr lang="en-US" b="1" dirty="0" err="1"/>
                  <a:t>động</a:t>
                </a:r>
                <a:r>
                  <a:rPr lang="en-US" b="1" dirty="0"/>
                  <a:t> </a:t>
                </a:r>
                <a:r>
                  <a:rPr lang="en-US" b="1" dirty="0" err="1"/>
                  <a:t>với</a:t>
                </a:r>
                <a:r>
                  <a:rPr lang="en-US" b="1" dirty="0"/>
                  <a:t> </a:t>
                </a:r>
                <a:r>
                  <a:rPr lang="en-US" b="1" dirty="0" err="1"/>
                  <a:t>mặt</a:t>
                </a:r>
                <a:r>
                  <a:rPr lang="en-US" b="1" dirty="0"/>
                  <a:t> </a:t>
                </a:r>
                <a:r>
                  <a:rPr lang="en-US" b="1" dirty="0" err="1"/>
                  <a:t>nạ</a:t>
                </a:r>
                <a:r>
                  <a:rPr lang="en-US" b="1" dirty="0"/>
                  <a:t> bit</a:t>
                </a:r>
              </a:p>
              <a:p>
                <a:pPr marL="514350" indent="-514350" algn="just">
                  <a:buFont typeface="+mj-lt"/>
                  <a:buAutoNum type="alphaLcParenR" startAt="2"/>
                </a:pPr>
                <a:r>
                  <a:rPr lang="en-US" b="1" dirty="0"/>
                  <a:t>Công </a:t>
                </a:r>
                <a:r>
                  <a:rPr lang="en-US" b="1" dirty="0" err="1"/>
                  <a:t>thức</a:t>
                </a:r>
                <a:r>
                  <a:rPr lang="en-US" b="1" dirty="0"/>
                  <a:t> </a:t>
                </a:r>
                <a:r>
                  <a:rPr lang="en-US" b="1" dirty="0" err="1"/>
                  <a:t>quy</a:t>
                </a:r>
                <a:r>
                  <a:rPr lang="en-US" b="1" dirty="0"/>
                  <a:t> </a:t>
                </a:r>
                <a:r>
                  <a:rPr lang="en-US" b="1" dirty="0" err="1"/>
                  <a:t>hoạch</a:t>
                </a:r>
                <a:r>
                  <a:rPr lang="en-US" b="1" dirty="0"/>
                  <a:t> </a:t>
                </a:r>
                <a:r>
                  <a:rPr lang="en-US" b="1" dirty="0" err="1"/>
                  <a:t>động</a:t>
                </a:r>
                <a:endParaRPr lang="en-US" b="1" dirty="0"/>
              </a:p>
              <a:p>
                <a:pPr algn="just"/>
                <a:r>
                  <a:rPr lang="en-US" dirty="0" err="1"/>
                  <a:t>Kết</a:t>
                </a:r>
                <a:r>
                  <a:rPr lang="en-US" dirty="0"/>
                  <a:t> </a:t>
                </a:r>
                <a:r>
                  <a:rPr lang="en-US" dirty="0" err="1"/>
                  <a:t>quả</a:t>
                </a:r>
                <a:r>
                  <a:rPr lang="en-US" dirty="0"/>
                  <a:t> </a:t>
                </a:r>
                <a:r>
                  <a:rPr lang="en-US" dirty="0" err="1"/>
                  <a:t>cần</a:t>
                </a:r>
                <a:r>
                  <a:rPr lang="en-US" dirty="0"/>
                  <a:t> </a:t>
                </a:r>
                <a:r>
                  <a:rPr lang="en-US" dirty="0" err="1"/>
                  <a:t>tìm</a:t>
                </a:r>
                <a:r>
                  <a:rPr lang="en-US" dirty="0"/>
                  <a:t>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1, 2, …,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1, 2, …,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algn="just"/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algn="just">
                  <a:buFont typeface="Cambria Math" panose="02040503050406030204" pitchFamily="18" charset="0"/>
                  <a:buChar char="⇒"/>
                </a:pP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sự</a:t>
                </a:r>
                <a:r>
                  <a:rPr lang="en-US" dirty="0"/>
                  <a:t> </a:t>
                </a:r>
                <a:r>
                  <a:rPr lang="en-US" dirty="0" err="1"/>
                  <a:t>cải</a:t>
                </a:r>
                <a:r>
                  <a:rPr lang="en-US" dirty="0"/>
                  <a:t> </a:t>
                </a:r>
                <a:r>
                  <a:rPr lang="en-US" dirty="0" err="1"/>
                  <a:t>thiện</a:t>
                </a:r>
                <a:r>
                  <a:rPr lang="en-US" dirty="0"/>
                  <a:t> so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quay </a:t>
                </a:r>
                <a:r>
                  <a:rPr lang="en-US" dirty="0" err="1"/>
                  <a:t>lui</a:t>
                </a:r>
                <a:r>
                  <a:rPr lang="en-US" dirty="0"/>
                  <a:t> </a:t>
                </a:r>
                <a:r>
                  <a:rPr lang="en-US" dirty="0" err="1"/>
                  <a:t>kết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nhánh</a:t>
                </a:r>
                <a:r>
                  <a:rPr lang="en-US" dirty="0"/>
                  <a:t> </a:t>
                </a:r>
                <a:r>
                  <a:rPr lang="en-US" dirty="0" err="1"/>
                  <a:t>cận</a:t>
                </a:r>
                <a:r>
                  <a:rPr lang="en-US" dirty="0"/>
                  <a:t>. </a:t>
                </a:r>
              </a:p>
              <a:p>
                <a:pPr algn="just">
                  <a:buFont typeface="Cambria Math" panose="02040503050406030204" pitchFamily="18" charset="0"/>
                  <a:buChar char="⇒"/>
                </a:pPr>
                <a:r>
                  <a:rPr lang="en-US" dirty="0"/>
                  <a:t> </a:t>
                </a:r>
                <a:r>
                  <a:rPr lang="en-US" dirty="0" err="1"/>
                  <a:t>Cả</a:t>
                </a:r>
                <a:r>
                  <a:rPr lang="en-US" dirty="0"/>
                  <a:t>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cách</a:t>
                </a:r>
                <a:r>
                  <a:rPr lang="en-US" dirty="0"/>
                  <a:t> </a:t>
                </a:r>
                <a:r>
                  <a:rPr lang="en-US" dirty="0" err="1"/>
                  <a:t>đều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phù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kích</a:t>
                </a:r>
                <a:r>
                  <a:rPr lang="en-US" dirty="0"/>
                  <a:t> </a:t>
                </a:r>
                <a:r>
                  <a:rPr lang="en-US" dirty="0" err="1"/>
                  <a:t>thước</a:t>
                </a:r>
                <a:r>
                  <a:rPr lang="en-US" dirty="0"/>
                  <a:t> </a:t>
                </a:r>
                <a:r>
                  <a:rPr lang="en-US" dirty="0" err="1"/>
                  <a:t>bài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lớn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62BFEF82-5B29-531D-EDBD-789FE4DE13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 r="-1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9321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992AE-A6DB-5045-7E73-312F5E655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421BF3D-3035-7C1D-44E8-70F37A76E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4920B4-9DEC-9832-8932-D2CB274CA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3"/>
            </a:pPr>
            <a:r>
              <a:rPr lang="en-US" dirty="0"/>
              <a:t>MÔ HÌNH HÓA BÀI TOÁN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698B7FF2-8AF1-1DF2-8AB8-B1CA37D5EFE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/>
                </a:pPr>
                <a:r>
                  <a:rPr lang="en-US" b="1" dirty="0"/>
                  <a:t>Quy </a:t>
                </a:r>
                <a:r>
                  <a:rPr lang="en-US" b="1" dirty="0" err="1"/>
                  <a:t>hoạch</a:t>
                </a:r>
                <a:r>
                  <a:rPr lang="en-US" b="1" dirty="0"/>
                  <a:t> </a:t>
                </a:r>
                <a:r>
                  <a:rPr lang="en-US" b="1" dirty="0" err="1"/>
                  <a:t>nguyên</a:t>
                </a:r>
                <a:r>
                  <a:rPr lang="en-US" b="1" dirty="0"/>
                  <a:t> </a:t>
                </a:r>
                <a:r>
                  <a:rPr lang="en-US" b="1" dirty="0" err="1"/>
                  <a:t>tuyến</a:t>
                </a:r>
                <a:r>
                  <a:rPr lang="en-US" b="1" dirty="0"/>
                  <a:t> </a:t>
                </a:r>
                <a:r>
                  <a:rPr lang="en-US" b="1" dirty="0" err="1"/>
                  <a:t>tính</a:t>
                </a:r>
                <a:endParaRPr lang="en-US" b="1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b="1" dirty="0" err="1"/>
                  <a:t>Biến</a:t>
                </a:r>
                <a:r>
                  <a:rPr lang="en-US" b="1" dirty="0"/>
                  <a:t> </a:t>
                </a:r>
                <a:r>
                  <a:rPr lang="en-US" b="1" dirty="0" err="1"/>
                  <a:t>quyết</a:t>
                </a:r>
                <a:r>
                  <a:rPr lang="en-US" b="1" dirty="0"/>
                  <a:t> </a:t>
                </a:r>
                <a:r>
                  <a:rPr lang="en-US" b="1" dirty="0" err="1"/>
                  <a:t>định</a:t>
                </a:r>
                <a:endParaRPr lang="en-US" b="1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nếu</a:t>
                </a:r>
                <a:r>
                  <a:rPr lang="en-US" dirty="0"/>
                  <a:t> </a:t>
                </a:r>
                <a:r>
                  <a:rPr lang="en-US" dirty="0" err="1"/>
                  <a:t>đi</a:t>
                </a:r>
                <a:r>
                  <a:rPr lang="en-US" dirty="0"/>
                  <a:t>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nếu</a:t>
                </a:r>
                <a:r>
                  <a:rPr lang="en-US" dirty="0"/>
                  <a:t> </a:t>
                </a:r>
                <a:r>
                  <a:rPr lang="en-US" dirty="0" err="1"/>
                  <a:t>ngược</a:t>
                </a:r>
                <a:r>
                  <a:rPr lang="en-US" dirty="0"/>
                  <a:t> </a:t>
                </a:r>
                <a:r>
                  <a:rPr lang="en-US" dirty="0" err="1"/>
                  <a:t>lại</a:t>
                </a:r>
                <a:r>
                  <a:rPr lang="en-US" dirty="0"/>
                  <a:t>.</a:t>
                </a: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</a:t>
                </a:r>
                <a:r>
                  <a:rPr lang="en-US" dirty="0" err="1"/>
                  <a:t>bắt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phục</a:t>
                </a:r>
                <a:r>
                  <a:rPr lang="en-US" dirty="0"/>
                  <a:t> </a:t>
                </a:r>
                <a:r>
                  <a:rPr lang="en-US" dirty="0" err="1"/>
                  <a:t>vụ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698B7FF2-8AF1-1DF2-8AB8-B1CA37D5EF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 r="-1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905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7F7DE-1C06-6FAE-9ECC-C4AB150AD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602173-F1BE-4800-6F01-668693787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B3243F-0232-929A-1697-77B0AFE5E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3"/>
            </a:pPr>
            <a:r>
              <a:rPr lang="en-US" dirty="0"/>
              <a:t>MÔ HÌNH HÓA BÀI TOÁN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78702A49-D0A0-40E6-83DF-97192D3CE04A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/>
                </a:pPr>
                <a:r>
                  <a:rPr lang="en-US" b="1" dirty="0"/>
                  <a:t>Quy </a:t>
                </a:r>
                <a:r>
                  <a:rPr lang="en-US" b="1" dirty="0" err="1"/>
                  <a:t>hoạch</a:t>
                </a:r>
                <a:r>
                  <a:rPr lang="en-US" b="1" dirty="0"/>
                  <a:t> </a:t>
                </a:r>
                <a:r>
                  <a:rPr lang="en-US" b="1" dirty="0" err="1"/>
                  <a:t>nguyên</a:t>
                </a:r>
                <a:r>
                  <a:rPr lang="en-US" b="1" dirty="0"/>
                  <a:t> </a:t>
                </a:r>
                <a:r>
                  <a:rPr lang="en-US" b="1" dirty="0" err="1"/>
                  <a:t>tuyến</a:t>
                </a:r>
                <a:r>
                  <a:rPr lang="en-US" b="1" dirty="0"/>
                  <a:t> </a:t>
                </a:r>
                <a:r>
                  <a:rPr lang="en-US" b="1" dirty="0" err="1"/>
                  <a:t>tính</a:t>
                </a:r>
                <a:endParaRPr lang="en-US" b="1" dirty="0"/>
              </a:p>
              <a:p>
                <a:pPr marL="514350" indent="-514350">
                  <a:buFont typeface="+mj-lt"/>
                  <a:buAutoNum type="alphaLcParenR" startAt="2"/>
                </a:pPr>
                <a:r>
                  <a:rPr lang="en-US" b="1" dirty="0" err="1"/>
                  <a:t>Ràng</a:t>
                </a:r>
                <a:r>
                  <a:rPr lang="en-US" b="1" dirty="0"/>
                  <a:t> </a:t>
                </a:r>
                <a:r>
                  <a:rPr lang="en-US" b="1" dirty="0" err="1"/>
                  <a:t>buộc</a:t>
                </a:r>
                <a:endParaRPr lang="en-US" b="1" i="1" dirty="0">
                  <a:latin typeface="Cambria Math" panose="02040503050406030204" pitchFamily="18" charset="0"/>
                </a:endParaRPr>
              </a:p>
              <a:p>
                <a:pPr algn="just"/>
                <a:r>
                  <a:rPr lang="en-US" dirty="0" err="1"/>
                  <a:t>Người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hàng</a:t>
                </a:r>
                <a:r>
                  <a:rPr lang="en-US" dirty="0"/>
                  <a:t> </a:t>
                </a:r>
                <a:r>
                  <a:rPr lang="en-US" dirty="0" err="1"/>
                  <a:t>đi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:r>
                  <a:rPr lang="en-US" dirty="0" err="1"/>
                  <a:t>mỗi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ra</a:t>
                </a:r>
                <a:r>
                  <a:rPr lang="en-US" dirty="0"/>
                  <a:t> </a:t>
                </a:r>
                <a:r>
                  <a:rPr lang="en-US" dirty="0" err="1"/>
                  <a:t>khỏi</a:t>
                </a:r>
                <a:r>
                  <a:rPr lang="en-US" dirty="0"/>
                  <a:t> </a:t>
                </a:r>
                <a:r>
                  <a:rPr lang="en-US" dirty="0" err="1"/>
                  <a:t>mỗi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 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0, 1, …,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\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∈ 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0, 1, …,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\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</m:t>
                      </m:r>
                    </m:oMath>
                  </m:oMathPara>
                </a14:m>
                <a:endParaRPr lang="en-US" dirty="0"/>
              </a:p>
              <a:p>
                <a:pPr algn="just"/>
                <a:r>
                  <a:rPr lang="en-US" dirty="0" err="1"/>
                  <a:t>Nếu</a:t>
                </a:r>
                <a:r>
                  <a:rPr lang="en-US" dirty="0"/>
                  <a:t> </a:t>
                </a:r>
                <a:r>
                  <a:rPr lang="en-US" dirty="0" err="1"/>
                  <a:t>đi</a:t>
                </a:r>
                <a:r>
                  <a:rPr lang="en-US" dirty="0"/>
                  <a:t>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algn="just">
                  <a:buFont typeface="Cambria Math" panose="02040503050406030204" pitchFamily="18" charset="0"/>
                  <a:buChar char="⇒"/>
                </a:pPr>
                <a:r>
                  <a:rPr lang="en-US" dirty="0"/>
                  <a:t> </a:t>
                </a:r>
                <a:r>
                  <a:rPr lang="en-US" dirty="0" err="1"/>
                  <a:t>Loại</a:t>
                </a:r>
                <a:r>
                  <a:rPr lang="en-US" dirty="0"/>
                  <a:t> </a:t>
                </a:r>
                <a:r>
                  <a:rPr lang="en-US" dirty="0" err="1"/>
                  <a:t>bỏ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chu </a:t>
                </a:r>
                <a:r>
                  <a:rPr lang="en-US" dirty="0" err="1"/>
                  <a:t>trình</a:t>
                </a:r>
                <a:r>
                  <a:rPr lang="en-US" dirty="0"/>
                  <a:t> con.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78702A49-D0A0-40E6-83DF-97192D3CE0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 r="-1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5140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928CE-D9C4-CABB-7711-3BA67A3EA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CBD82F-10AE-373A-6DAD-4833BD8EC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D2B71CD-B197-D44C-FD62-5A4F56203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3"/>
            </a:pPr>
            <a:r>
              <a:rPr lang="en-US" dirty="0"/>
              <a:t>MÔ HÌNH HÓA BÀI TOÁN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C831313A-A18C-FCA5-E25D-549D4F31752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/>
                </a:pPr>
                <a:r>
                  <a:rPr lang="en-US" b="1" dirty="0"/>
                  <a:t>Quy </a:t>
                </a:r>
                <a:r>
                  <a:rPr lang="en-US" b="1" dirty="0" err="1"/>
                  <a:t>hoạch</a:t>
                </a:r>
                <a:r>
                  <a:rPr lang="en-US" b="1" dirty="0"/>
                  <a:t> </a:t>
                </a:r>
                <a:r>
                  <a:rPr lang="en-US" b="1" dirty="0" err="1"/>
                  <a:t>nguyên</a:t>
                </a:r>
                <a:r>
                  <a:rPr lang="en-US" b="1" dirty="0"/>
                  <a:t> </a:t>
                </a:r>
                <a:r>
                  <a:rPr lang="en-US" b="1" dirty="0" err="1"/>
                  <a:t>tuyến</a:t>
                </a:r>
                <a:r>
                  <a:rPr lang="en-US" b="1" dirty="0"/>
                  <a:t> </a:t>
                </a:r>
                <a:r>
                  <a:rPr lang="en-US" b="1" dirty="0" err="1"/>
                  <a:t>tính</a:t>
                </a:r>
                <a:endParaRPr lang="en-US" b="1" dirty="0"/>
              </a:p>
              <a:p>
                <a:pPr marL="514350" indent="-514350">
                  <a:buFont typeface="+mj-lt"/>
                  <a:buAutoNum type="alphaLcParenR" startAt="3"/>
                </a:pPr>
                <a:r>
                  <a:rPr lang="en-US" b="1" dirty="0" err="1"/>
                  <a:t>Hàm</a:t>
                </a:r>
                <a:r>
                  <a:rPr lang="en-US" b="1" dirty="0"/>
                  <a:t> </a:t>
                </a:r>
                <a:r>
                  <a:rPr lang="en-US" b="1" dirty="0" err="1"/>
                  <a:t>mục</a:t>
                </a:r>
                <a:r>
                  <a:rPr lang="en-US" b="1" dirty="0"/>
                  <a:t> </a:t>
                </a:r>
                <a:r>
                  <a:rPr lang="en-US" b="1" dirty="0" err="1"/>
                  <a:t>tiêu</a:t>
                </a:r>
                <a:endParaRPr lang="en-US" b="1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0, 1, …,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sub>
                            <m:sup/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supHide m:val="on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∈ </m:t>
                                      </m:r>
                                      <m:d>
                                        <m:dPr>
                                          <m:begChr m:val="{"/>
                                          <m:endChr m:val="}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0, 1, …,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\</m:t>
                                      </m:r>
                                      <m:d>
                                        <m:dPr>
                                          <m:begChr m:val="{"/>
                                          <m:endChr m:val="}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sub>
                                    <m:sup/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 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 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C831313A-A18C-FCA5-E25D-549D4F3175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9814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FB177-21CE-7FA6-037E-22445ED18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E48D4C-97DD-EC9C-98E4-F2CB4E534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A02EE1-9152-6EF8-2332-79AA7C0C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3"/>
            </a:pPr>
            <a:r>
              <a:rPr lang="en-US" dirty="0"/>
              <a:t>MÔ HÌNH HÓA BÀI TOÁN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4D081FF3-9F11-EDDC-C159-7A71625AAD7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 startAt="2"/>
                </a:pPr>
                <a:r>
                  <a:rPr lang="en-US" b="1" dirty="0"/>
                  <a:t>Quy </a:t>
                </a:r>
                <a:r>
                  <a:rPr lang="en-US" b="1" dirty="0" err="1"/>
                  <a:t>hoạch</a:t>
                </a:r>
                <a:r>
                  <a:rPr lang="en-US" b="1" dirty="0"/>
                  <a:t> </a:t>
                </a:r>
                <a:r>
                  <a:rPr lang="en-US" b="1" dirty="0" err="1"/>
                  <a:t>ràng</a:t>
                </a:r>
                <a:r>
                  <a:rPr lang="en-US" b="1" dirty="0"/>
                  <a:t> </a:t>
                </a:r>
                <a:r>
                  <a:rPr lang="en-US" b="1" dirty="0" err="1"/>
                  <a:t>buộc</a:t>
                </a:r>
                <a:endParaRPr lang="en-US" b="1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b="1" dirty="0" err="1"/>
                  <a:t>Biến</a:t>
                </a:r>
                <a:r>
                  <a:rPr lang="en-US" b="1" dirty="0"/>
                  <a:t> </a:t>
                </a:r>
                <a:r>
                  <a:rPr lang="en-US" b="1" dirty="0" err="1"/>
                  <a:t>quyết</a:t>
                </a:r>
                <a:r>
                  <a:rPr lang="en-US" b="1" dirty="0"/>
                  <a:t> </a:t>
                </a:r>
                <a:r>
                  <a:rPr lang="en-US" b="1" dirty="0" err="1"/>
                  <a:t>định</a:t>
                </a:r>
                <a:endParaRPr lang="en-US" b="1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𝑛𝑒𝑥𝑡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nếu</a:t>
                </a:r>
                <a:r>
                  <a:rPr lang="en-US" dirty="0"/>
                  <a:t> </a:t>
                </a:r>
                <a:r>
                  <a:rPr lang="en-US" dirty="0" err="1"/>
                  <a:t>đi</a:t>
                </a:r>
                <a:r>
                  <a:rPr lang="en-US" dirty="0"/>
                  <a:t>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nếu</a:t>
                </a:r>
                <a:r>
                  <a:rPr lang="en-US" dirty="0"/>
                  <a:t> </a:t>
                </a:r>
                <a:r>
                  <a:rPr lang="en-US" dirty="0" err="1"/>
                  <a:t>ngược</a:t>
                </a:r>
                <a:r>
                  <a:rPr lang="en-US" dirty="0"/>
                  <a:t> </a:t>
                </a:r>
                <a:r>
                  <a:rPr lang="en-US" dirty="0" err="1"/>
                  <a:t>lại</a:t>
                </a:r>
                <a:r>
                  <a:rPr lang="en-US" dirty="0"/>
                  <a:t>.</a:t>
                </a: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</a:t>
                </a:r>
                <a:r>
                  <a:rPr lang="en-US" dirty="0" err="1"/>
                  <a:t>bắt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phục</a:t>
                </a:r>
                <a:r>
                  <a:rPr lang="en-US" dirty="0"/>
                  <a:t> </a:t>
                </a:r>
                <a:r>
                  <a:rPr lang="en-US" dirty="0" err="1"/>
                  <a:t>vụ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514350" indent="-514350">
                  <a:buFont typeface="+mj-lt"/>
                  <a:buAutoNum type="alphaLcParenR" startAt="2"/>
                </a:pPr>
                <a:r>
                  <a:rPr lang="en-US" b="1" dirty="0" err="1"/>
                  <a:t>Ràng</a:t>
                </a:r>
                <a:r>
                  <a:rPr lang="en-US" b="1" dirty="0"/>
                  <a:t> </a:t>
                </a:r>
                <a:r>
                  <a:rPr lang="en-US" b="1" dirty="0" err="1"/>
                  <a:t>buộc</a:t>
                </a:r>
                <a:endParaRPr lang="en-US" b="1" i="1" dirty="0">
                  <a:latin typeface="Cambria Math" panose="02040503050406030204" pitchFamily="18" charset="0"/>
                </a:endParaRPr>
              </a:p>
              <a:p>
                <a:pPr algn="just"/>
                <a:r>
                  <a:rPr lang="en-US" dirty="0"/>
                  <a:t>Các </a:t>
                </a:r>
                <a:r>
                  <a:rPr lang="en-US" dirty="0" err="1"/>
                  <a:t>giá</a:t>
                </a:r>
                <a:r>
                  <a:rPr lang="en-US" dirty="0"/>
                  <a:t> </a:t>
                </a:r>
                <a:r>
                  <a:rPr lang="en-US" dirty="0" err="1"/>
                  <a:t>trị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𝑛𝑒𝑥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phải</a:t>
                </a:r>
                <a:r>
                  <a:rPr lang="en-US" dirty="0"/>
                  <a:t> </a:t>
                </a:r>
                <a:r>
                  <a:rPr lang="en-US" dirty="0" err="1"/>
                  <a:t>đôi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khác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AllDifferent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𝑛𝑒𝑥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𝑛𝑒𝑥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…,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𝑛𝑒𝑥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algn="just"/>
                <a:r>
                  <a:rPr lang="en-US" dirty="0" err="1"/>
                  <a:t>Nếu</a:t>
                </a:r>
                <a:r>
                  <a:rPr lang="en-US" dirty="0"/>
                  <a:t> </a:t>
                </a:r>
                <a:r>
                  <a:rPr lang="en-US" dirty="0" err="1"/>
                  <a:t>đi</a:t>
                </a:r>
                <a:r>
                  <a:rPr lang="en-US" dirty="0"/>
                  <a:t>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algn="just">
                  <a:buFont typeface="Cambria Math" panose="02040503050406030204" pitchFamily="18" charset="0"/>
                  <a:buChar char="⇒"/>
                </a:pPr>
                <a:r>
                  <a:rPr lang="en-US" dirty="0"/>
                  <a:t> </a:t>
                </a:r>
                <a:r>
                  <a:rPr lang="en-US" dirty="0" err="1"/>
                  <a:t>Xử</a:t>
                </a:r>
                <a:r>
                  <a:rPr lang="en-US" dirty="0"/>
                  <a:t> </a:t>
                </a:r>
                <a:r>
                  <a:rPr lang="en-US" dirty="0" err="1"/>
                  <a:t>lý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OnlyEnforceIf</a:t>
                </a:r>
                <a:r>
                  <a:rPr lang="en-US" dirty="0">
                    <a:latin typeface="Consolas" panose="020B0609020204030204" pitchFamily="49" charset="0"/>
                  </a:rPr>
                  <a:t>()</a:t>
                </a:r>
                <a:r>
                  <a:rPr lang="en-US" dirty="0"/>
                  <a:t>.</a:t>
                </a:r>
              </a:p>
              <a:p>
                <a:pPr marL="0" indent="0" algn="just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4D081FF3-9F11-EDDC-C159-7A71625AAD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 b="-53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1711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CA557-34E8-AE29-7C12-6E97CDD2D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1A54F4-0A6F-7CC9-5DD5-2CCA5BA00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6130A-DE90-35B4-1032-8192B7C87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3"/>
            </a:pPr>
            <a:r>
              <a:rPr lang="en-US" dirty="0"/>
              <a:t>MÔ HÌNH HÓA BÀI TOÁN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94DD2689-E177-FC75-7C7C-D364660600C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 startAt="2"/>
                </a:pPr>
                <a:r>
                  <a:rPr lang="en-US" b="1" dirty="0"/>
                  <a:t>Quy </a:t>
                </a:r>
                <a:r>
                  <a:rPr lang="en-US" b="1" dirty="0" err="1"/>
                  <a:t>hoạch</a:t>
                </a:r>
                <a:r>
                  <a:rPr lang="en-US" b="1" dirty="0"/>
                  <a:t> </a:t>
                </a:r>
                <a:r>
                  <a:rPr lang="en-US" b="1" dirty="0" err="1"/>
                  <a:t>ràng</a:t>
                </a:r>
                <a:r>
                  <a:rPr lang="en-US" b="1" dirty="0"/>
                  <a:t> </a:t>
                </a:r>
                <a:r>
                  <a:rPr lang="en-US" b="1" dirty="0" err="1"/>
                  <a:t>buộc</a:t>
                </a:r>
                <a:endParaRPr lang="en-US" b="1" dirty="0"/>
              </a:p>
              <a:p>
                <a:pPr marL="514350" indent="-514350">
                  <a:buFont typeface="+mj-lt"/>
                  <a:buAutoNum type="alphaLcParenR" startAt="3"/>
                </a:pPr>
                <a:r>
                  <a:rPr lang="en-US" b="1" dirty="0" err="1"/>
                  <a:t>Hàm</a:t>
                </a:r>
                <a:r>
                  <a:rPr lang="en-US" b="1" dirty="0"/>
                  <a:t> </a:t>
                </a:r>
                <a:r>
                  <a:rPr lang="en-US" b="1" dirty="0" err="1"/>
                  <a:t>mục</a:t>
                </a:r>
                <a:r>
                  <a:rPr lang="en-US" b="1" dirty="0"/>
                  <a:t> </a:t>
                </a:r>
                <a:r>
                  <a:rPr lang="en-US" b="1" dirty="0" err="1"/>
                  <a:t>tiêu</a:t>
                </a:r>
                <a:endParaRPr lang="en-US" b="1" dirty="0"/>
              </a:p>
              <a:p>
                <a:pPr algn="just"/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sử</a:t>
                </a:r>
                <a:r>
                  <a:rPr lang="en-US" dirty="0"/>
                  <a:t> </a:t>
                </a:r>
                <a:r>
                  <a:rPr lang="en-US" dirty="0" err="1"/>
                  <a:t>dụng</a:t>
                </a:r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:r>
                  <a:rPr lang="en-US" dirty="0" err="1">
                    <a:latin typeface="Consolas" panose="020B0609020204030204" pitchFamily="49" charset="0"/>
                  </a:rPr>
                  <a:t>model.Minimize</a:t>
                </a:r>
                <a:r>
                  <a:rPr lang="en-US" dirty="0">
                    <a:latin typeface="Consolas" panose="020B0609020204030204" pitchFamily="49" charset="0"/>
                  </a:rPr>
                  <a:t>(sum(t[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][next[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]]))</a:t>
                </a:r>
                <a:r>
                  <a:rPr lang="en-US" dirty="0"/>
                  <a:t>.</a:t>
                </a:r>
              </a:p>
              <a:p>
                <a:pPr algn="just">
                  <a:buFont typeface="Cambria Math" panose="02040503050406030204" pitchFamily="18" charset="0"/>
                  <a:buChar char="⇒"/>
                </a:pPr>
                <a:r>
                  <a:rPr lang="en-US" dirty="0"/>
                  <a:t> </a:t>
                </a:r>
                <a:r>
                  <a:rPr lang="en-US" dirty="0" err="1"/>
                  <a:t>Dùng</a:t>
                </a:r>
                <a:r>
                  <a:rPr lang="en-US" dirty="0"/>
                  <a:t> </a:t>
                </a:r>
                <a:r>
                  <a:rPr lang="en-US" dirty="0" err="1"/>
                  <a:t>biến</a:t>
                </a:r>
                <a:r>
                  <a:rPr lang="en-US" dirty="0"/>
                  <a:t> </a:t>
                </a:r>
                <a:r>
                  <a:rPr lang="en-US" dirty="0" err="1"/>
                  <a:t>phụ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𝑛𝑒𝑥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algn="just"/>
                <a:r>
                  <a:rPr lang="en-US" dirty="0" err="1"/>
                  <a:t>Hàm</a:t>
                </a:r>
                <a:r>
                  <a:rPr lang="en-US" dirty="0"/>
                  <a:t> </a:t>
                </a:r>
                <a:r>
                  <a:rPr lang="en-US" dirty="0" err="1"/>
                  <a:t>mục</a:t>
                </a:r>
                <a:r>
                  <a:rPr lang="en-US" dirty="0"/>
                  <a:t> </a:t>
                </a:r>
                <a:r>
                  <a:rPr lang="en-US" dirty="0" err="1"/>
                  <a:t>tiêu</a:t>
                </a:r>
                <a:r>
                  <a:rPr lang="en-US" dirty="0"/>
                  <a:t>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∈ 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0, 1, …,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94DD2689-E177-FC75-7C7C-D364660600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8425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66798-8D0C-E331-9DDB-02EA978DD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045DD2-6EF9-485B-FD3A-AD0ED8006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F278C4-461C-682A-C720-1DC03607D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4"/>
            </a:pPr>
            <a:r>
              <a:rPr lang="en-US" dirty="0"/>
              <a:t>CÁC PHƯƠNG PHÁP THAM LAM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98656FAA-DA7C-D422-1AF8-11736BB1E67A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algn="just"/>
                <a:r>
                  <a:rPr lang="en-US" b="1" u="sng" dirty="0"/>
                  <a:t>Cách 1:</a:t>
                </a:r>
                <a:r>
                  <a:rPr lang="en-US" dirty="0"/>
                  <a:t> Trong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phục</a:t>
                </a:r>
                <a:r>
                  <a:rPr lang="en-US" dirty="0"/>
                  <a:t> </a:t>
                </a:r>
                <a:r>
                  <a:rPr lang="en-US" dirty="0" err="1"/>
                  <a:t>vụ</a:t>
                </a:r>
                <a:r>
                  <a:rPr lang="en-US" dirty="0"/>
                  <a:t>, </a:t>
                </a:r>
                <a:r>
                  <a:rPr lang="en-US" dirty="0" err="1"/>
                  <a:t>ưu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nhỏ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mà</a:t>
                </a:r>
                <a:r>
                  <a:rPr lang="en-US" dirty="0"/>
                  <a:t>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đảm</a:t>
                </a:r>
                <a:r>
                  <a:rPr lang="en-US" dirty="0"/>
                  <a:t> </a:t>
                </a:r>
                <a:r>
                  <a:rPr lang="en-US" dirty="0" err="1"/>
                  <a:t>bảo</a:t>
                </a:r>
                <a:r>
                  <a:rPr lang="en-US" dirty="0"/>
                  <a:t> </a:t>
                </a:r>
                <a:r>
                  <a:rPr lang="en-US" dirty="0" err="1"/>
                  <a:t>ràng</a:t>
                </a:r>
                <a:r>
                  <a:rPr lang="en-US" dirty="0"/>
                  <a:t> </a:t>
                </a:r>
                <a:r>
                  <a:rPr lang="en-US" dirty="0" err="1"/>
                  <a:t>buộc</a:t>
                </a:r>
                <a:r>
                  <a:rPr lang="en-US" dirty="0"/>
                  <a:t> </a:t>
                </a:r>
                <a:r>
                  <a:rPr lang="en-US" dirty="0" err="1"/>
                  <a:t>cửa</a:t>
                </a:r>
                <a:r>
                  <a:rPr lang="en-US" dirty="0"/>
                  <a:t> </a:t>
                </a:r>
                <a:r>
                  <a:rPr lang="en-US" dirty="0" err="1"/>
                  <a:t>sổ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.</a:t>
                </a:r>
              </a:p>
              <a:p>
                <a:pPr algn="just"/>
                <a:r>
                  <a:rPr lang="en-US" b="1" u="sng" dirty="0" err="1"/>
                  <a:t>Cách</a:t>
                </a:r>
                <a:r>
                  <a:rPr lang="en-US" b="1" u="sng" dirty="0"/>
                  <a:t> 2:</a:t>
                </a:r>
                <a:r>
                  <a:rPr lang="en-US" dirty="0"/>
                  <a:t> Trong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phục</a:t>
                </a:r>
                <a:r>
                  <a:rPr lang="en-US" dirty="0"/>
                  <a:t> </a:t>
                </a:r>
                <a:r>
                  <a:rPr lang="en-US" dirty="0" err="1"/>
                  <a:t>vụ</a:t>
                </a:r>
                <a:r>
                  <a:rPr lang="en-US" dirty="0"/>
                  <a:t>, </a:t>
                </a:r>
                <a:r>
                  <a:rPr lang="en-US" dirty="0" err="1"/>
                  <a:t>ưu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nhỏ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mà</a:t>
                </a:r>
                <a:r>
                  <a:rPr lang="en-US" dirty="0"/>
                  <a:t>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đảm</a:t>
                </a:r>
                <a:r>
                  <a:rPr lang="en-US" dirty="0"/>
                  <a:t> </a:t>
                </a:r>
                <a:r>
                  <a:rPr lang="en-US" dirty="0" err="1"/>
                  <a:t>bảo</a:t>
                </a:r>
                <a:r>
                  <a:rPr lang="en-US" dirty="0"/>
                  <a:t> </a:t>
                </a:r>
                <a:r>
                  <a:rPr lang="en-US" dirty="0" err="1"/>
                  <a:t>ràng</a:t>
                </a:r>
                <a:r>
                  <a:rPr lang="en-US" dirty="0"/>
                  <a:t> </a:t>
                </a:r>
                <a:r>
                  <a:rPr lang="en-US" dirty="0" err="1"/>
                  <a:t>buộc</a:t>
                </a:r>
                <a:r>
                  <a:rPr lang="en-US" dirty="0"/>
                  <a:t> </a:t>
                </a:r>
                <a:r>
                  <a:rPr lang="en-US" dirty="0" err="1"/>
                  <a:t>cửa</a:t>
                </a:r>
                <a:r>
                  <a:rPr lang="en-US" dirty="0"/>
                  <a:t> </a:t>
                </a:r>
                <a:r>
                  <a:rPr lang="en-US" dirty="0" err="1"/>
                  <a:t>sổ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.</a:t>
                </a:r>
              </a:p>
              <a:p>
                <a:pPr algn="just">
                  <a:buFont typeface="Cambria Math" panose="02040503050406030204" pitchFamily="18" charset="0"/>
                  <a:buChar char="⇒"/>
                </a:pPr>
                <a:r>
                  <a:rPr lang="en-US" dirty="0"/>
                  <a:t> Hai </a:t>
                </a:r>
                <a:r>
                  <a:rPr lang="en-US" dirty="0" err="1"/>
                  <a:t>cách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đủ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đưa</a:t>
                </a:r>
                <a:r>
                  <a:rPr lang="en-US" dirty="0"/>
                  <a:t> </a:t>
                </a:r>
                <a:r>
                  <a:rPr lang="en-US" dirty="0" err="1"/>
                  <a:t>ra</a:t>
                </a:r>
                <a:r>
                  <a:rPr lang="en-US" dirty="0"/>
                  <a:t> </a:t>
                </a:r>
                <a:r>
                  <a:rPr lang="en-US" dirty="0" err="1"/>
                  <a:t>lời</a:t>
                </a:r>
                <a:r>
                  <a:rPr lang="en-US" dirty="0"/>
                  <a:t> </a:t>
                </a:r>
                <a:r>
                  <a:rPr lang="en-US" dirty="0" err="1"/>
                  <a:t>giải</a:t>
                </a:r>
                <a:r>
                  <a:rPr lang="en-US" dirty="0"/>
                  <a:t> </a:t>
                </a:r>
                <a:r>
                  <a:rPr lang="en-US" dirty="0" err="1"/>
                  <a:t>tối</a:t>
                </a:r>
                <a:r>
                  <a:rPr lang="en-US" dirty="0"/>
                  <a:t> </a:t>
                </a:r>
                <a:r>
                  <a:rPr lang="en-US" dirty="0" err="1"/>
                  <a:t>ưu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bộ</a:t>
                </a:r>
                <a:r>
                  <a:rPr lang="en-US" dirty="0"/>
                  <a:t> </a:t>
                </a:r>
                <a:r>
                  <a:rPr lang="en-US" dirty="0" err="1"/>
                  <a:t>dữ</a:t>
                </a:r>
                <a:r>
                  <a:rPr lang="en-US" dirty="0"/>
                  <a:t> </a:t>
                </a:r>
                <a:r>
                  <a:rPr lang="en-US" dirty="0" err="1"/>
                  <a:t>liệu</a:t>
                </a:r>
                <a:r>
                  <a:rPr lang="en-US" dirty="0"/>
                  <a:t> </a:t>
                </a:r>
                <a:r>
                  <a:rPr lang="en-US" dirty="0" err="1"/>
                  <a:t>trên</a:t>
                </a:r>
                <a:r>
                  <a:rPr lang="en-US" dirty="0"/>
                  <a:t> </a:t>
                </a:r>
                <a:r>
                  <a:rPr lang="en-US" dirty="0" err="1"/>
                  <a:t>hệ</a:t>
                </a:r>
                <a:r>
                  <a:rPr lang="en-US" dirty="0"/>
                  <a:t> </a:t>
                </a:r>
                <a:r>
                  <a:rPr lang="en-US" dirty="0" err="1"/>
                  <a:t>thống</a:t>
                </a:r>
                <a:r>
                  <a:rPr lang="en-US" dirty="0"/>
                  <a:t> </a:t>
                </a:r>
                <a:r>
                  <a:rPr lang="en-US" dirty="0" err="1"/>
                  <a:t>HUSTack</a:t>
                </a:r>
                <a:r>
                  <a:rPr lang="en-US" dirty="0"/>
                  <a:t>, </a:t>
                </a:r>
                <a:r>
                  <a:rPr lang="en-US" dirty="0" err="1"/>
                  <a:t>nhưng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chắc</a:t>
                </a:r>
                <a:r>
                  <a:rPr lang="en-US" dirty="0"/>
                  <a:t> </a:t>
                </a:r>
                <a:r>
                  <a:rPr lang="en-US" dirty="0" err="1"/>
                  <a:t>hoạt</a:t>
                </a:r>
                <a:r>
                  <a:rPr lang="en-US" dirty="0"/>
                  <a:t> </a:t>
                </a:r>
                <a:r>
                  <a:rPr lang="en-US" dirty="0" err="1"/>
                  <a:t>động</a:t>
                </a:r>
                <a:r>
                  <a:rPr lang="en-US" dirty="0"/>
                  <a:t> </a:t>
                </a:r>
                <a:r>
                  <a:rPr lang="en-US" dirty="0" err="1"/>
                  <a:t>tốt</a:t>
                </a:r>
                <a:r>
                  <a:rPr lang="en-US" dirty="0"/>
                  <a:t> </a:t>
                </a:r>
                <a:r>
                  <a:rPr lang="en-US" dirty="0" err="1"/>
                  <a:t>trên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bộ</a:t>
                </a:r>
                <a:r>
                  <a:rPr lang="en-US" dirty="0"/>
                  <a:t> </a:t>
                </a:r>
                <a:r>
                  <a:rPr lang="en-US" dirty="0" err="1"/>
                  <a:t>dữ</a:t>
                </a:r>
                <a:r>
                  <a:rPr lang="en-US" dirty="0"/>
                  <a:t> </a:t>
                </a:r>
                <a:r>
                  <a:rPr lang="en-US" dirty="0" err="1"/>
                  <a:t>liệu</a:t>
                </a:r>
                <a:r>
                  <a:rPr lang="en-US" dirty="0"/>
                  <a:t> </a:t>
                </a:r>
                <a:r>
                  <a:rPr lang="en-US" dirty="0" err="1"/>
                  <a:t>khó</a:t>
                </a:r>
                <a:r>
                  <a:rPr lang="en-US" dirty="0"/>
                  <a:t> </a:t>
                </a:r>
                <a:r>
                  <a:rPr lang="en-US" dirty="0" err="1"/>
                  <a:t>hơn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98656FAA-DA7C-D422-1AF8-11736BB1E6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 r="-1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26149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E858B-5255-1100-9CBB-7382FC4F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E7DFE8-FF7E-6622-F0BF-9861345FB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0B7410-1749-C325-26F6-8319A5044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5"/>
            </a:pPr>
            <a:r>
              <a:rPr lang="en-US" dirty="0"/>
              <a:t>CÁC PHƯƠNG PHÁP TÌM KIẾM CỤC BỘ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7DB121CA-1B5F-1750-B93C-526D5D69321D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/>
                </a:pPr>
                <a:r>
                  <a:rPr lang="en-US" b="1" dirty="0"/>
                  <a:t>Tổng </a:t>
                </a:r>
                <a:r>
                  <a:rPr lang="en-US" b="1" dirty="0" err="1"/>
                  <a:t>quan</a:t>
                </a:r>
                <a:endParaRPr lang="en-US" b="1" dirty="0"/>
              </a:p>
              <a:p>
                <a:pPr marL="514350" indent="-514350" algn="just">
                  <a:buFont typeface="+mj-lt"/>
                  <a:buAutoNum type="alphaLcParenR"/>
                </a:pPr>
                <a:r>
                  <a:rPr lang="en-US" b="1" dirty="0" err="1"/>
                  <a:t>Chiến</a:t>
                </a:r>
                <a:r>
                  <a:rPr lang="en-US" b="1" dirty="0"/>
                  <a:t> </a:t>
                </a:r>
                <a:r>
                  <a:rPr lang="en-US" b="1" dirty="0" err="1"/>
                  <a:t>lược</a:t>
                </a:r>
                <a:r>
                  <a:rPr lang="en-US" b="1" dirty="0"/>
                  <a:t> </a:t>
                </a:r>
                <a:r>
                  <a:rPr lang="en-US" b="1" dirty="0" err="1"/>
                  <a:t>khởi</a:t>
                </a:r>
                <a:r>
                  <a:rPr lang="en-US" b="1" dirty="0"/>
                  <a:t> </a:t>
                </a:r>
                <a:r>
                  <a:rPr lang="en-US" b="1" dirty="0" err="1"/>
                  <a:t>tạo</a:t>
                </a:r>
                <a:r>
                  <a:rPr lang="en-US" b="1" dirty="0"/>
                  <a:t> </a:t>
                </a:r>
                <a:r>
                  <a:rPr lang="en-US" b="1" dirty="0" err="1"/>
                  <a:t>lời</a:t>
                </a:r>
                <a:r>
                  <a:rPr lang="en-US" b="1" dirty="0"/>
                  <a:t> </a:t>
                </a:r>
                <a:r>
                  <a:rPr lang="en-US" b="1" dirty="0" err="1"/>
                  <a:t>giải</a:t>
                </a:r>
                <a:endParaRPr lang="en-US" b="1" dirty="0"/>
              </a:p>
              <a:p>
                <a:pPr algn="just"/>
                <a:r>
                  <a:rPr lang="en-US" b="1" u="sng" dirty="0" err="1"/>
                  <a:t>Cách</a:t>
                </a:r>
                <a:r>
                  <a:rPr lang="en-US" b="1" u="sng" dirty="0"/>
                  <a:t> 1:</a:t>
                </a:r>
                <a:r>
                  <a:rPr lang="en-US" dirty="0"/>
                  <a:t> </a:t>
                </a:r>
                <a:r>
                  <a:rPr lang="en-US" dirty="0" err="1"/>
                  <a:t>Ưu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nhỏ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, </a:t>
                </a:r>
                <a:r>
                  <a:rPr lang="en-US" dirty="0" err="1"/>
                  <a:t>tạm</a:t>
                </a:r>
                <a:r>
                  <a:rPr lang="en-US" dirty="0"/>
                  <a:t> </a:t>
                </a:r>
                <a:r>
                  <a:rPr lang="en-US" dirty="0" err="1"/>
                  <a:t>bỏ</a:t>
                </a:r>
                <a:r>
                  <a:rPr lang="en-US" dirty="0"/>
                  <a:t> qua </a:t>
                </a:r>
                <a:r>
                  <a:rPr lang="en-US" dirty="0" err="1"/>
                  <a:t>điều</a:t>
                </a:r>
                <a:r>
                  <a:rPr lang="en-US" dirty="0"/>
                  <a:t> </a:t>
                </a:r>
                <a:r>
                  <a:rPr lang="en-US" dirty="0" err="1"/>
                  <a:t>kiện</a:t>
                </a:r>
                <a:r>
                  <a:rPr lang="en-US" dirty="0"/>
                  <a:t> </a:t>
                </a:r>
                <a:r>
                  <a:rPr lang="en-US" dirty="0" err="1"/>
                  <a:t>cửa</a:t>
                </a:r>
                <a:r>
                  <a:rPr lang="en-US" dirty="0"/>
                  <a:t> </a:t>
                </a:r>
                <a:r>
                  <a:rPr lang="en-US" dirty="0" err="1"/>
                  <a:t>sổ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.</a:t>
                </a:r>
              </a:p>
              <a:p>
                <a:pPr algn="just"/>
                <a:r>
                  <a:rPr lang="en-US" b="1" u="sng" dirty="0" err="1"/>
                  <a:t>Cách</a:t>
                </a:r>
                <a:r>
                  <a:rPr lang="en-US" b="1" u="sng" dirty="0"/>
                  <a:t> 2:</a:t>
                </a:r>
                <a:r>
                  <a:rPr lang="en-US" dirty="0"/>
                  <a:t> </a:t>
                </a:r>
                <a:r>
                  <a:rPr lang="en-US" dirty="0" err="1"/>
                  <a:t>Ưu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nhỏ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, </a:t>
                </a:r>
                <a:r>
                  <a:rPr lang="en-US" dirty="0" err="1"/>
                  <a:t>tạm</a:t>
                </a:r>
                <a:r>
                  <a:rPr lang="en-US" dirty="0"/>
                  <a:t> </a:t>
                </a:r>
                <a:r>
                  <a:rPr lang="en-US" dirty="0" err="1"/>
                  <a:t>bỏ</a:t>
                </a:r>
                <a:r>
                  <a:rPr lang="en-US" dirty="0"/>
                  <a:t> qua </a:t>
                </a:r>
                <a:r>
                  <a:rPr lang="en-US" dirty="0" err="1"/>
                  <a:t>điều</a:t>
                </a:r>
                <a:r>
                  <a:rPr lang="en-US" dirty="0"/>
                  <a:t> </a:t>
                </a:r>
                <a:r>
                  <a:rPr lang="en-US" dirty="0" err="1"/>
                  <a:t>kiện</a:t>
                </a:r>
                <a:r>
                  <a:rPr lang="en-US" dirty="0"/>
                  <a:t> </a:t>
                </a:r>
                <a:r>
                  <a:rPr lang="en-US" dirty="0" err="1"/>
                  <a:t>cửa</a:t>
                </a:r>
                <a:r>
                  <a:rPr lang="en-US" dirty="0"/>
                  <a:t> </a:t>
                </a:r>
                <a:r>
                  <a:rPr lang="en-US" dirty="0" err="1"/>
                  <a:t>sổ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.</a:t>
                </a:r>
              </a:p>
              <a:p>
                <a:pPr marL="514350" indent="-514350" algn="just">
                  <a:buFont typeface="+mj-lt"/>
                  <a:buAutoNum type="alphaLcParenR" startAt="2"/>
                </a:pPr>
                <a:r>
                  <a:rPr lang="en-US" b="1" dirty="0" err="1"/>
                  <a:t>Toán</a:t>
                </a:r>
                <a:r>
                  <a:rPr lang="en-US" b="1" dirty="0"/>
                  <a:t> </a:t>
                </a:r>
                <a:r>
                  <a:rPr lang="en-US" b="1" dirty="0" err="1"/>
                  <a:t>tử</a:t>
                </a:r>
                <a:r>
                  <a:rPr lang="en-US" b="1" dirty="0"/>
                  <a:t> </a:t>
                </a:r>
                <a:r>
                  <a:rPr lang="en-US" b="1" dirty="0" err="1"/>
                  <a:t>biến</a:t>
                </a:r>
                <a:r>
                  <a:rPr lang="en-US" b="1" dirty="0"/>
                  <a:t> </a:t>
                </a:r>
                <a:r>
                  <a:rPr lang="en-US" b="1" dirty="0" err="1"/>
                  <a:t>đổi</a:t>
                </a:r>
                <a:r>
                  <a:rPr lang="en-US" b="1" dirty="0"/>
                  <a:t>:</a:t>
                </a:r>
                <a:r>
                  <a:rPr lang="en-US" dirty="0"/>
                  <a:t> Swap, relocate, 2-opt move</a:t>
                </a:r>
              </a:p>
              <a:p>
                <a:pPr marL="514350" indent="-514350" algn="just">
                  <a:buFont typeface="+mj-lt"/>
                  <a:buAutoNum type="alphaLcParenR" startAt="2"/>
                </a:pPr>
                <a:r>
                  <a:rPr lang="en-US" b="1" dirty="0" err="1"/>
                  <a:t>Chất</a:t>
                </a:r>
                <a:r>
                  <a:rPr lang="en-US" b="1" dirty="0"/>
                  <a:t> </a:t>
                </a:r>
                <a:r>
                  <a:rPr lang="en-US" b="1" dirty="0" err="1"/>
                  <a:t>lượng</a:t>
                </a:r>
                <a:r>
                  <a:rPr lang="en-US" b="1" dirty="0"/>
                  <a:t> </a:t>
                </a:r>
                <a:r>
                  <a:rPr lang="en-US" b="1" dirty="0" err="1"/>
                  <a:t>lời</a:t>
                </a:r>
                <a:r>
                  <a:rPr lang="en-US" b="1" dirty="0"/>
                  <a:t> </a:t>
                </a:r>
                <a:r>
                  <a:rPr lang="en-US" b="1" dirty="0" err="1"/>
                  <a:t>giải</a:t>
                </a:r>
                <a:endParaRPr lang="en-US" b="1" dirty="0"/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violations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0</m:t>
                                  </m:r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fitness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times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× 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violations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b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7DB121CA-1B5F-1750-B93C-526D5D6932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 r="-1477" b="-9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32596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99D53-A8B8-7DAF-3DB8-D8D4A659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F032C6-C57F-BFC7-D903-C249ECA8C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A0AA83-FF60-49D6-D48F-E7C7E7646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5"/>
            </a:pPr>
            <a:r>
              <a:rPr lang="en-US" dirty="0"/>
              <a:t>CÁC PHƯƠNG PHÁP TÌM KIẾM CỤC BỘ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62782-4E33-3C52-1D66-D5A863A8FB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514350" indent="-514350" algn="ctr">
              <a:buFont typeface="+mj-lt"/>
              <a:buAutoNum type="arabicPeriod" startAt="2"/>
            </a:pPr>
            <a:r>
              <a:rPr lang="en-US" b="1" dirty="0" err="1"/>
              <a:t>Tìm</a:t>
            </a:r>
            <a:r>
              <a:rPr lang="en-US" b="1" dirty="0"/>
              <a:t> </a:t>
            </a:r>
            <a:r>
              <a:rPr lang="en-US" b="1" dirty="0" err="1"/>
              <a:t>kiếm</a:t>
            </a:r>
            <a:r>
              <a:rPr lang="en-US" b="1" dirty="0"/>
              <a:t> </a:t>
            </a:r>
            <a:r>
              <a:rPr lang="en-US" b="1" dirty="0" err="1"/>
              <a:t>leo</a:t>
            </a:r>
            <a:r>
              <a:rPr lang="en-US" b="1" dirty="0"/>
              <a:t> </a:t>
            </a:r>
            <a:r>
              <a:rPr lang="en-US" b="1" dirty="0" err="1"/>
              <a:t>đồi</a:t>
            </a:r>
            <a:r>
              <a:rPr lang="en-US" b="1" dirty="0"/>
              <a:t> (Hill Climbing)</a:t>
            </a:r>
          </a:p>
          <a:p>
            <a:pPr algn="just"/>
            <a:r>
              <a:rPr lang="en-US" dirty="0" err="1"/>
              <a:t>Khám</a:t>
            </a:r>
            <a:r>
              <a:rPr lang="en-US" dirty="0"/>
              <a:t> </a:t>
            </a:r>
            <a:r>
              <a:rPr lang="en-US" dirty="0" err="1"/>
              <a:t>phá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láng</a:t>
            </a:r>
            <a:r>
              <a:rPr lang="en-US" dirty="0"/>
              <a:t> </a:t>
            </a:r>
            <a:r>
              <a:rPr lang="en-US" dirty="0" err="1"/>
              <a:t>giềng</a:t>
            </a:r>
            <a:r>
              <a:rPr lang="en-US" dirty="0"/>
              <a:t>,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láng</a:t>
            </a:r>
            <a:r>
              <a:rPr lang="en-US" dirty="0"/>
              <a:t> </a:t>
            </a:r>
            <a:r>
              <a:rPr lang="en-US" dirty="0" err="1"/>
              <a:t>giềng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thế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cũ</a:t>
            </a:r>
            <a:r>
              <a:rPr lang="en-US" dirty="0"/>
              <a:t>.</a:t>
            </a:r>
          </a:p>
          <a:p>
            <a:pPr algn="just"/>
            <a:r>
              <a:rPr lang="en-US" dirty="0" err="1"/>
              <a:t>Chính</a:t>
            </a:r>
            <a:r>
              <a:rPr lang="en-US" dirty="0"/>
              <a:t> </a:t>
            </a:r>
            <a:r>
              <a:rPr lang="en-US" dirty="0" err="1"/>
              <a:t>sách</a:t>
            </a:r>
            <a:r>
              <a:rPr lang="en-US" dirty="0"/>
              <a:t> </a:t>
            </a:r>
            <a:r>
              <a:rPr lang="en-US" dirty="0" err="1"/>
              <a:t>chọn</a:t>
            </a:r>
            <a:r>
              <a:rPr lang="en-US" dirty="0"/>
              <a:t> </a:t>
            </a:r>
            <a:r>
              <a:rPr lang="en-US" dirty="0" err="1"/>
              <a:t>láng</a:t>
            </a:r>
            <a:r>
              <a:rPr lang="en-US" dirty="0"/>
              <a:t> </a:t>
            </a:r>
            <a:r>
              <a:rPr lang="en-US" dirty="0" err="1"/>
              <a:t>giềng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cải</a:t>
            </a:r>
            <a:r>
              <a:rPr lang="en-US" dirty="0"/>
              <a:t> </a:t>
            </a:r>
            <a:r>
              <a:rPr lang="en-US" dirty="0" err="1"/>
              <a:t>thiện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: </a:t>
            </a:r>
            <a:r>
              <a:rPr lang="en-US" dirty="0" err="1"/>
              <a:t>Cải</a:t>
            </a:r>
            <a:r>
              <a:rPr lang="en-US" dirty="0"/>
              <a:t> </a:t>
            </a:r>
            <a:r>
              <a:rPr lang="en-US" dirty="0" err="1"/>
              <a:t>thiện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tiên</a:t>
            </a:r>
            <a:r>
              <a:rPr lang="en-US" dirty="0"/>
              <a:t> (First improvement).</a:t>
            </a:r>
          </a:p>
          <a:p>
            <a:pPr algn="just"/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r>
              <a:rPr lang="en-US" dirty="0"/>
              <a:t> </a:t>
            </a:r>
            <a:r>
              <a:rPr lang="en-US" dirty="0" err="1"/>
              <a:t>dừng</a:t>
            </a:r>
            <a:r>
              <a:rPr lang="en-US" dirty="0"/>
              <a:t>: </a:t>
            </a:r>
            <a:r>
              <a:rPr lang="en-US" dirty="0" err="1"/>
              <a:t>Hết</a:t>
            </a:r>
            <a:r>
              <a:rPr lang="en-US" dirty="0"/>
              <a:t> </a:t>
            </a:r>
            <a:r>
              <a:rPr lang="en-US" dirty="0" err="1"/>
              <a:t>hai</a:t>
            </a:r>
            <a:r>
              <a:rPr lang="en-US" dirty="0"/>
              <a:t> </a:t>
            </a:r>
            <a:r>
              <a:rPr lang="en-US" dirty="0" err="1"/>
              <a:t>mươi</a:t>
            </a:r>
            <a:r>
              <a:rPr lang="en-US" dirty="0"/>
              <a:t> </a:t>
            </a:r>
            <a:r>
              <a:rPr lang="en-US" dirty="0" err="1"/>
              <a:t>phút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mỗi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khởi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láng</a:t>
            </a:r>
            <a:r>
              <a:rPr lang="en-US" dirty="0"/>
              <a:t> </a:t>
            </a:r>
            <a:r>
              <a:rPr lang="en-US" dirty="0" err="1"/>
              <a:t>giềng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979327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BFA9F-8984-E502-7208-CAAB4FF8C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A6A517-DC4F-48E0-7FEA-C9B9983B0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208A40-2108-760B-7358-47F5487FA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5"/>
            </a:pPr>
            <a:r>
              <a:rPr lang="en-US" dirty="0"/>
              <a:t>CÁC PHƯƠNG PHÁP TÌM KIẾM CỤC BỘ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5AA7A0DF-AF24-A1EE-4750-328236470ECD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 startAt="3"/>
                </a:pPr>
                <a:r>
                  <a:rPr lang="en-US" b="1" dirty="0" err="1"/>
                  <a:t>Tìm</a:t>
                </a:r>
                <a:r>
                  <a:rPr lang="en-US" b="1" dirty="0"/>
                  <a:t> </a:t>
                </a:r>
                <a:r>
                  <a:rPr lang="en-US" b="1" dirty="0" err="1"/>
                  <a:t>kiếm</a:t>
                </a:r>
                <a:r>
                  <a:rPr lang="en-US" b="1" dirty="0"/>
                  <a:t> </a:t>
                </a:r>
                <a:r>
                  <a:rPr lang="en-US" b="1" dirty="0" err="1"/>
                  <a:t>mô</a:t>
                </a:r>
                <a:r>
                  <a:rPr lang="en-US" b="1" dirty="0"/>
                  <a:t> </a:t>
                </a:r>
                <a:r>
                  <a:rPr lang="en-US" b="1" dirty="0" err="1"/>
                  <a:t>phỏng</a:t>
                </a:r>
                <a:r>
                  <a:rPr lang="en-US" b="1" dirty="0"/>
                  <a:t> </a:t>
                </a:r>
                <a:r>
                  <a:rPr lang="en-US" b="1" dirty="0" err="1"/>
                  <a:t>quá</a:t>
                </a:r>
                <a:r>
                  <a:rPr lang="en-US" b="1" dirty="0"/>
                  <a:t> </a:t>
                </a:r>
                <a:r>
                  <a:rPr lang="en-US" b="1" dirty="0" err="1"/>
                  <a:t>trình</a:t>
                </a:r>
                <a:r>
                  <a:rPr lang="en-US" b="1" dirty="0"/>
                  <a:t> </a:t>
                </a:r>
                <a:r>
                  <a:rPr lang="en-US" b="1" dirty="0" err="1"/>
                  <a:t>tôi</a:t>
                </a:r>
                <a:r>
                  <a:rPr lang="en-US" b="1" dirty="0"/>
                  <a:t> ủ </a:t>
                </a:r>
                <a:r>
                  <a:rPr lang="en-US" b="1" dirty="0" err="1"/>
                  <a:t>vật</a:t>
                </a:r>
                <a:r>
                  <a:rPr lang="en-US" b="1" dirty="0"/>
                  <a:t> </a:t>
                </a:r>
                <a:r>
                  <a:rPr lang="en-US" b="1" dirty="0" err="1"/>
                  <a:t>liệu</a:t>
                </a:r>
                <a:endParaRPr lang="en-US" b="1" dirty="0"/>
              </a:p>
              <a:p>
                <a:pPr marL="0" indent="0" algn="ctr">
                  <a:buNone/>
                </a:pPr>
                <a:r>
                  <a:rPr lang="en-US" b="1" dirty="0"/>
                  <a:t>(Simulated Annealing)</a:t>
                </a:r>
              </a:p>
              <a:p>
                <a:pPr algn="just"/>
                <a:r>
                  <a:rPr lang="en-US" dirty="0"/>
                  <a:t>Tham </a:t>
                </a:r>
                <a:r>
                  <a:rPr lang="en-US" dirty="0" err="1"/>
                  <a:t>số</a:t>
                </a:r>
                <a:r>
                  <a:rPr lang="en-US" dirty="0"/>
                  <a:t>: </a:t>
                </a:r>
                <a:r>
                  <a:rPr lang="en-US" dirty="0" err="1"/>
                  <a:t>Nhiệt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ban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nhiệt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cuối</a:t>
                </a:r>
                <a:r>
                  <a:rPr lang="en-US" dirty="0"/>
                  <a:t> </a:t>
                </a:r>
                <a:r>
                  <a:rPr lang="en-US" dirty="0" err="1"/>
                  <a:t>cùng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hệ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làm</a:t>
                </a:r>
                <a:r>
                  <a:rPr lang="en-US" dirty="0"/>
                  <a:t> </a:t>
                </a:r>
                <a:r>
                  <a:rPr lang="en-US" dirty="0" err="1"/>
                  <a:t>nguội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.</a:t>
                </a:r>
              </a:p>
              <a:p>
                <a:pPr algn="just"/>
                <a:r>
                  <a:rPr lang="en-US" dirty="0"/>
                  <a:t>Cho </a:t>
                </a:r>
                <a:r>
                  <a:rPr lang="en-US" dirty="0" err="1"/>
                  <a:t>phép</a:t>
                </a:r>
                <a:r>
                  <a:rPr lang="en-US" dirty="0"/>
                  <a:t> </a:t>
                </a:r>
                <a:r>
                  <a:rPr lang="en-US" dirty="0" err="1"/>
                  <a:t>chọn</a:t>
                </a:r>
                <a:r>
                  <a:rPr lang="en-US" dirty="0"/>
                  <a:t> </a:t>
                </a:r>
                <a:r>
                  <a:rPr lang="en-US" dirty="0" err="1"/>
                  <a:t>lời</a:t>
                </a:r>
                <a:r>
                  <a:rPr lang="en-US" dirty="0"/>
                  <a:t> </a:t>
                </a:r>
                <a:r>
                  <a:rPr lang="en-US" dirty="0" err="1"/>
                  <a:t>giải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hơn</a:t>
                </a:r>
                <a:r>
                  <a:rPr lang="en-US" dirty="0"/>
                  <a:t> </a:t>
                </a:r>
                <a:r>
                  <a:rPr lang="en-US" dirty="0" err="1"/>
                  <a:t>theo</a:t>
                </a:r>
                <a:r>
                  <a:rPr lang="en-US" dirty="0"/>
                  <a:t> </a:t>
                </a:r>
                <a:r>
                  <a:rPr lang="en-US" dirty="0" err="1"/>
                  <a:t>xác</a:t>
                </a:r>
                <a:r>
                  <a:rPr lang="en-US" dirty="0"/>
                  <a:t> </a:t>
                </a:r>
                <a:r>
                  <a:rPr lang="en-US" dirty="0" err="1"/>
                  <a:t>suất</a:t>
                </a:r>
                <a:r>
                  <a:rPr lang="en-US" dirty="0"/>
                  <a:t>, </a:t>
                </a:r>
                <a:r>
                  <a:rPr lang="en-US" dirty="0" err="1"/>
                  <a:t>điều</a:t>
                </a:r>
                <a:r>
                  <a:rPr lang="en-US" dirty="0"/>
                  <a:t> </a:t>
                </a:r>
                <a:r>
                  <a:rPr lang="en-US" dirty="0" err="1"/>
                  <a:t>kiện</a:t>
                </a:r>
                <a:r>
                  <a:rPr lang="en-US" dirty="0"/>
                  <a:t> </a:t>
                </a:r>
                <a:r>
                  <a:rPr lang="en-US" dirty="0" err="1"/>
                  <a:t>bởi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.</a:t>
                </a:r>
              </a:p>
              <a:p>
                <a:pPr algn="just"/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càng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gần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thì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chất</a:t>
                </a:r>
                <a:r>
                  <a:rPr lang="en-US" sz="2800" dirty="0"/>
                  <a:t> </a:t>
                </a:r>
                <a:r>
                  <a:rPr lang="en-US" sz="2800" dirty="0" err="1"/>
                  <a:t>lượng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lời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giải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càng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tốt</a:t>
                </a:r>
                <a:r>
                  <a:rPr lang="en-US" sz="2800" dirty="0"/>
                  <a:t>.</a:t>
                </a:r>
              </a:p>
              <a:p>
                <a:pPr algn="just"/>
                <a:r>
                  <a:rPr lang="en-US" sz="2800" dirty="0" err="1"/>
                  <a:t>Điều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kiện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dừng</a:t>
                </a:r>
                <a:r>
                  <a:rPr lang="en-US" sz="2800" dirty="0"/>
                  <a:t>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5AA7A0DF-AF24-A1EE-4750-328236470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266" t="-2019" r="-1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95870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58297-4649-0F61-E645-551B55932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32A07A-4756-640B-5110-0CA9BA837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1FDDCB5-A652-BD9D-1246-ED79903C9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6"/>
            </a:pPr>
            <a:r>
              <a:rPr lang="en-US" dirty="0"/>
              <a:t>KẾT QUẢ THỰC NGHIỆM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17741581-8D35-5DD7-3C1B-AB01DB7274A6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/>
                </a:pPr>
                <a:r>
                  <a:rPr lang="en-US" b="1" dirty="0"/>
                  <a:t>Cấu </a:t>
                </a:r>
                <a:r>
                  <a:rPr lang="en-US" b="1" dirty="0" err="1"/>
                  <a:t>hình</a:t>
                </a:r>
                <a:r>
                  <a:rPr lang="en-US" b="1" dirty="0"/>
                  <a:t> </a:t>
                </a:r>
                <a:r>
                  <a:rPr lang="en-US" b="1" dirty="0" err="1"/>
                  <a:t>thực</a:t>
                </a:r>
                <a:r>
                  <a:rPr lang="en-US" b="1" dirty="0"/>
                  <a:t> </a:t>
                </a:r>
                <a:r>
                  <a:rPr lang="en-US" b="1" dirty="0" err="1"/>
                  <a:t>nghiệm</a:t>
                </a:r>
                <a:endParaRPr lang="en-US" b="1" dirty="0"/>
              </a:p>
              <a:p>
                <a:pPr marL="514350" indent="-514350" algn="just">
                  <a:buFont typeface="+mj-lt"/>
                  <a:buAutoNum type="alphaLcParenR"/>
                </a:pPr>
                <a:r>
                  <a:rPr lang="en-US" sz="2800" b="1" dirty="0" err="1"/>
                  <a:t>Bộ</a:t>
                </a:r>
                <a:r>
                  <a:rPr lang="en-US" sz="2800" b="1" dirty="0"/>
                  <a:t> </a:t>
                </a:r>
                <a:r>
                  <a:rPr lang="en-US" sz="2800" b="1" dirty="0" err="1"/>
                  <a:t>dữ</a:t>
                </a:r>
                <a:r>
                  <a:rPr lang="en-US" sz="2800" b="1" dirty="0"/>
                  <a:t> </a:t>
                </a:r>
                <a:r>
                  <a:rPr lang="en-US" sz="2800" b="1" dirty="0" err="1"/>
                  <a:t>liệu</a:t>
                </a:r>
                <a:endParaRPr lang="en-US" sz="2800" b="1" dirty="0"/>
              </a:p>
              <a:p>
                <a:pPr algn="just">
                  <a:buFont typeface="Wingdings" panose="05000000000000000000" pitchFamily="2" charset="2"/>
                  <a:buChar char="v"/>
                </a:pP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lượng</a:t>
                </a:r>
                <a:r>
                  <a:rPr lang="en-US" dirty="0"/>
                  <a:t> </a:t>
                </a:r>
                <a:r>
                  <a:rPr lang="en-US" dirty="0" err="1"/>
                  <a:t>kích</a:t>
                </a:r>
                <a:r>
                  <a:rPr lang="en-US" dirty="0"/>
                  <a:t> </a:t>
                </a:r>
                <a:r>
                  <a:rPr lang="en-US" dirty="0" err="1"/>
                  <a:t>thước</a:t>
                </a:r>
                <a:r>
                  <a:rPr lang="en-US" dirty="0"/>
                  <a:t>: 10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dirty="0"/>
                  <a:t> –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US" dirty="0"/>
                  <a:t>).</a:t>
                </a:r>
              </a:p>
              <a:p>
                <a:pPr algn="just">
                  <a:buFont typeface="Wingdings" panose="05000000000000000000" pitchFamily="2" charset="2"/>
                  <a:buChar char="v"/>
                </a:pPr>
                <a:r>
                  <a:rPr lang="en-US" dirty="0"/>
                  <a:t> Hai </a:t>
                </a:r>
                <a:r>
                  <a:rPr lang="en-US" dirty="0" err="1"/>
                  <a:t>loại</a:t>
                </a:r>
                <a:r>
                  <a:rPr lang="en-US" dirty="0"/>
                  <a:t> </a:t>
                </a:r>
                <a:r>
                  <a:rPr lang="en-US" dirty="0" err="1"/>
                  <a:t>dữ</a:t>
                </a:r>
                <a:r>
                  <a:rPr lang="en-US" dirty="0"/>
                  <a:t> </a:t>
                </a:r>
                <a:r>
                  <a:rPr lang="en-US" dirty="0" err="1"/>
                  <a:t>liệu</a:t>
                </a:r>
                <a:r>
                  <a:rPr lang="en-US" dirty="0"/>
                  <a:t>:</a:t>
                </a:r>
              </a:p>
              <a:p>
                <a:pPr algn="just"/>
                <a:r>
                  <a:rPr lang="en-US" dirty="0"/>
                  <a:t>Thông </a:t>
                </a:r>
                <a:r>
                  <a:rPr lang="en-US" dirty="0" err="1"/>
                  <a:t>thường</a:t>
                </a:r>
                <a:r>
                  <a:rPr lang="en-US" dirty="0"/>
                  <a:t>.</a:t>
                </a:r>
              </a:p>
              <a:p>
                <a:pPr algn="just"/>
                <a:r>
                  <a:rPr lang="en-US" dirty="0" err="1"/>
                  <a:t>Phân</a:t>
                </a:r>
                <a:r>
                  <a:rPr lang="en-US" dirty="0"/>
                  <a:t> </a:t>
                </a:r>
                <a:r>
                  <a:rPr lang="en-US" dirty="0" err="1"/>
                  <a:t>cụm</a:t>
                </a:r>
                <a:r>
                  <a:rPr lang="en-US" dirty="0"/>
                  <a:t>: Chia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thành</a:t>
                </a:r>
                <a:r>
                  <a:rPr lang="en-US" dirty="0"/>
                  <a:t>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cụm</a:t>
                </a:r>
                <a:r>
                  <a:rPr lang="en-US" dirty="0"/>
                  <a:t>,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đó</a:t>
                </a:r>
                <a:r>
                  <a:rPr lang="en-US" dirty="0"/>
                  <a:t> </a:t>
                </a:r>
                <a:r>
                  <a:rPr lang="en-US" dirty="0" err="1"/>
                  <a:t>khoảng</a:t>
                </a:r>
                <a:r>
                  <a:rPr lang="en-US" dirty="0"/>
                  <a:t> </a:t>
                </a:r>
                <a:r>
                  <a:rPr lang="en-US" dirty="0" err="1"/>
                  <a:t>cách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cùng</a:t>
                </a:r>
                <a:r>
                  <a:rPr lang="en-US" dirty="0"/>
                  <a:t> </a:t>
                </a:r>
                <a:r>
                  <a:rPr lang="en-US" dirty="0" err="1"/>
                  <a:t>cụm</a:t>
                </a:r>
                <a:r>
                  <a:rPr lang="en-US" dirty="0"/>
                  <a:t> </a:t>
                </a:r>
                <a:r>
                  <a:rPr lang="en-US" dirty="0" err="1"/>
                  <a:t>nhỏ</a:t>
                </a:r>
                <a:r>
                  <a:rPr lang="en-US" dirty="0"/>
                  <a:t> </a:t>
                </a:r>
                <a:r>
                  <a:rPr lang="en-US" dirty="0" err="1"/>
                  <a:t>hơn</a:t>
                </a:r>
                <a:r>
                  <a:rPr lang="en-US" dirty="0"/>
                  <a:t> </a:t>
                </a:r>
                <a:r>
                  <a:rPr lang="en-US" dirty="0" err="1"/>
                  <a:t>nhiều</a:t>
                </a:r>
                <a:r>
                  <a:rPr lang="en-US" dirty="0"/>
                  <a:t> so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khoảng</a:t>
                </a:r>
                <a:r>
                  <a:rPr lang="en-US" dirty="0"/>
                  <a:t> </a:t>
                </a:r>
                <a:r>
                  <a:rPr lang="en-US" dirty="0" err="1"/>
                  <a:t>cách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khách</a:t>
                </a:r>
                <a:r>
                  <a:rPr lang="en-US" dirty="0"/>
                  <a:t> </a:t>
                </a:r>
                <a:r>
                  <a:rPr lang="en-US" dirty="0" err="1"/>
                  <a:t>khác</a:t>
                </a:r>
                <a:r>
                  <a:rPr lang="en-US" dirty="0"/>
                  <a:t> </a:t>
                </a:r>
                <a:r>
                  <a:rPr lang="en-US" dirty="0" err="1"/>
                  <a:t>cụm</a:t>
                </a:r>
                <a:r>
                  <a:rPr lang="en-US" dirty="0"/>
                  <a:t>.</a:t>
                </a:r>
              </a:p>
              <a:p>
                <a:pPr algn="just">
                  <a:buFont typeface="Wingdings" panose="05000000000000000000" pitchFamily="2" charset="2"/>
                  <a:buChar char="v"/>
                </a:pPr>
                <a:r>
                  <a:rPr lang="en-US" dirty="0"/>
                  <a:t> Các </a:t>
                </a:r>
                <a:r>
                  <a:rPr lang="en-US" dirty="0" err="1"/>
                  <a:t>bộ</a:t>
                </a:r>
                <a:r>
                  <a:rPr lang="en-US" dirty="0"/>
                  <a:t> </a:t>
                </a:r>
                <a:r>
                  <a:rPr lang="en-US" dirty="0" err="1"/>
                  <a:t>dữ</a:t>
                </a:r>
                <a:r>
                  <a:rPr lang="en-US" dirty="0"/>
                  <a:t> </a:t>
                </a:r>
                <a:r>
                  <a:rPr lang="en-US" dirty="0" err="1"/>
                  <a:t>liệu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sinh</a:t>
                </a:r>
                <a:r>
                  <a:rPr lang="en-US" dirty="0"/>
                  <a:t> </a:t>
                </a:r>
                <a:r>
                  <a:rPr lang="en-US" dirty="0" err="1"/>
                  <a:t>ra</a:t>
                </a:r>
                <a:r>
                  <a:rPr lang="en-US" dirty="0"/>
                  <a:t> </a:t>
                </a:r>
                <a:r>
                  <a:rPr lang="en-US" dirty="0" err="1"/>
                  <a:t>sao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nếu</a:t>
                </a:r>
                <a:r>
                  <a:rPr lang="en-US" dirty="0"/>
                  <a:t> </a:t>
                </a:r>
                <a:r>
                  <a:rPr lang="en-US" dirty="0" err="1"/>
                  <a:t>chỉ</a:t>
                </a:r>
                <a:r>
                  <a:rPr lang="en-US" dirty="0"/>
                  <a:t> </a:t>
                </a:r>
                <a:r>
                  <a:rPr lang="en-US" dirty="0" err="1"/>
                  <a:t>dùng</a:t>
                </a:r>
                <a:r>
                  <a:rPr lang="en-US" dirty="0"/>
                  <a:t> </a:t>
                </a:r>
                <a:r>
                  <a:rPr lang="en-US" dirty="0" err="1"/>
                  <a:t>phương</a:t>
                </a:r>
                <a:r>
                  <a:rPr lang="en-US" dirty="0"/>
                  <a:t> </a:t>
                </a:r>
                <a:r>
                  <a:rPr lang="en-US" dirty="0" err="1"/>
                  <a:t>pháp</a:t>
                </a:r>
                <a:r>
                  <a:rPr lang="en-US" dirty="0"/>
                  <a:t> </a:t>
                </a:r>
                <a:r>
                  <a:rPr lang="en-US" dirty="0" err="1"/>
                  <a:t>khởi</a:t>
                </a:r>
                <a:r>
                  <a:rPr lang="en-US" dirty="0"/>
                  <a:t> </a:t>
                </a:r>
                <a:r>
                  <a:rPr lang="en-US" dirty="0" err="1"/>
                  <a:t>tạo</a:t>
                </a:r>
                <a:r>
                  <a:rPr lang="en-US" dirty="0"/>
                  <a:t> </a:t>
                </a:r>
                <a:r>
                  <a:rPr lang="en-US" dirty="0" err="1"/>
                  <a:t>tham</a:t>
                </a:r>
                <a:r>
                  <a:rPr lang="en-US" dirty="0"/>
                  <a:t> lam </a:t>
                </a:r>
                <a:r>
                  <a:rPr lang="en-US" dirty="0" err="1"/>
                  <a:t>thì</a:t>
                </a:r>
                <a:r>
                  <a:rPr lang="en-US" dirty="0"/>
                  <a:t> </a:t>
                </a:r>
                <a:r>
                  <a:rPr lang="en-US" dirty="0" err="1"/>
                  <a:t>lộ</a:t>
                </a:r>
                <a:r>
                  <a:rPr lang="en-US" dirty="0"/>
                  <a:t> </a:t>
                </a:r>
                <a:r>
                  <a:rPr lang="en-US" dirty="0" err="1"/>
                  <a:t>trình</a:t>
                </a:r>
                <a:r>
                  <a:rPr lang="en-US" dirty="0"/>
                  <a:t> </a:t>
                </a:r>
                <a:r>
                  <a:rPr lang="en-US" dirty="0" err="1"/>
                  <a:t>thu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lời</a:t>
                </a:r>
                <a:r>
                  <a:rPr lang="en-US" dirty="0"/>
                  <a:t> </a:t>
                </a:r>
                <a:r>
                  <a:rPr lang="en-US" dirty="0" err="1"/>
                  <a:t>giải</a:t>
                </a:r>
                <a:r>
                  <a:rPr lang="en-US" dirty="0"/>
                  <a:t> </a:t>
                </a:r>
                <a:r>
                  <a:rPr lang="en-US" dirty="0" err="1"/>
                  <a:t>chấp</a:t>
                </a:r>
                <a:r>
                  <a:rPr lang="en-US" dirty="0"/>
                  <a:t> </a:t>
                </a:r>
                <a:r>
                  <a:rPr lang="en-US" dirty="0" err="1"/>
                  <a:t>nhận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17741581-8D35-5DD7-3C1B-AB01DB7274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 r="-1477" b="-2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4282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D07A-CEAD-FFE7-9D99-FA9CC53D3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7D0FDA-CD38-0DC5-B21F-D9EFFA5E5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32565D-E981-2D71-3F3C-6077F0D63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6"/>
            </a:pPr>
            <a:r>
              <a:rPr lang="en-US" dirty="0"/>
              <a:t>KẾT QUẢ THỰC NGHIỆM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CAD7FC02-11B2-D575-3906-46AC82E8442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/>
                </a:pPr>
                <a:r>
                  <a:rPr lang="en-US" b="1" dirty="0"/>
                  <a:t>Cấu </a:t>
                </a:r>
                <a:r>
                  <a:rPr lang="en-US" b="1" dirty="0" err="1"/>
                  <a:t>hình</a:t>
                </a:r>
                <a:r>
                  <a:rPr lang="en-US" b="1" dirty="0"/>
                  <a:t> </a:t>
                </a:r>
                <a:r>
                  <a:rPr lang="en-US" b="1" dirty="0" err="1"/>
                  <a:t>thực</a:t>
                </a:r>
                <a:r>
                  <a:rPr lang="en-US" b="1" dirty="0"/>
                  <a:t> </a:t>
                </a:r>
                <a:r>
                  <a:rPr lang="en-US" b="1" dirty="0" err="1"/>
                  <a:t>nghiệm</a:t>
                </a:r>
                <a:endParaRPr lang="en-US" b="1" dirty="0"/>
              </a:p>
              <a:p>
                <a:pPr marL="514350" indent="-514350" algn="just">
                  <a:buFont typeface="+mj-lt"/>
                  <a:buAutoNum type="alphaLcParenR" startAt="2"/>
                </a:pPr>
                <a:r>
                  <a:rPr lang="en-US" b="1" dirty="0"/>
                  <a:t>Cài </a:t>
                </a:r>
                <a:r>
                  <a:rPr lang="en-US" b="1" dirty="0" err="1"/>
                  <a:t>đặt</a:t>
                </a:r>
                <a:r>
                  <a:rPr lang="en-US" b="1" dirty="0"/>
                  <a:t> </a:t>
                </a:r>
                <a:r>
                  <a:rPr lang="en-US" b="1" dirty="0" err="1"/>
                  <a:t>tham</a:t>
                </a:r>
                <a:r>
                  <a:rPr lang="en-US" b="1" dirty="0"/>
                  <a:t> </a:t>
                </a:r>
                <a:r>
                  <a:rPr lang="en-US" b="1" dirty="0" err="1"/>
                  <a:t>số</a:t>
                </a:r>
                <a:endParaRPr lang="en-US" b="1" dirty="0"/>
              </a:p>
              <a:p>
                <a:pPr algn="just"/>
                <a:r>
                  <a:rPr lang="en-US" dirty="0" err="1"/>
                  <a:t>Tìm</a:t>
                </a:r>
                <a:r>
                  <a:rPr lang="en-US" dirty="0"/>
                  <a:t> </a:t>
                </a:r>
                <a:r>
                  <a:rPr lang="en-US" dirty="0" err="1"/>
                  <a:t>kiếm</a:t>
                </a:r>
                <a:r>
                  <a:rPr lang="en-US" dirty="0"/>
                  <a:t> </a:t>
                </a:r>
                <a:r>
                  <a:rPr lang="en-US" dirty="0" err="1"/>
                  <a:t>leo</a:t>
                </a:r>
                <a:r>
                  <a:rPr lang="en-US" dirty="0"/>
                  <a:t> </a:t>
                </a:r>
                <a:r>
                  <a:rPr lang="en-US" dirty="0" err="1"/>
                  <a:t>đồi</a:t>
                </a:r>
                <a:r>
                  <a:rPr lang="en-US" dirty="0"/>
                  <a:t>: Hai </a:t>
                </a:r>
                <a:r>
                  <a:rPr lang="en-US" dirty="0" err="1"/>
                  <a:t>mươi</a:t>
                </a:r>
                <a:r>
                  <a:rPr lang="en-US" dirty="0"/>
                  <a:t> </a:t>
                </a:r>
                <a:r>
                  <a:rPr lang="en-US" dirty="0" err="1"/>
                  <a:t>phút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mỗi</a:t>
                </a:r>
                <a:r>
                  <a:rPr lang="en-US" dirty="0"/>
                  <a:t> </a:t>
                </a:r>
                <a:r>
                  <a:rPr lang="en-US" dirty="0" err="1"/>
                  <a:t>cách</a:t>
                </a:r>
                <a:r>
                  <a:rPr lang="en-US" dirty="0"/>
                  <a:t> </a:t>
                </a:r>
                <a:r>
                  <a:rPr lang="en-US" dirty="0" err="1"/>
                  <a:t>khởi</a:t>
                </a:r>
                <a:r>
                  <a:rPr lang="en-US" dirty="0"/>
                  <a:t> </a:t>
                </a:r>
                <a:r>
                  <a:rPr lang="en-US" dirty="0" err="1"/>
                  <a:t>tạo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=1000000</m:t>
                    </m:r>
                  </m:oMath>
                </a14:m>
                <a:r>
                  <a:rPr lang="en-US" dirty="0"/>
                  <a:t>.</a:t>
                </a:r>
              </a:p>
              <a:p>
                <a:pPr algn="just"/>
                <a:r>
                  <a:rPr lang="en-US" dirty="0" err="1"/>
                  <a:t>Mô</a:t>
                </a:r>
                <a:r>
                  <a:rPr lang="en-US" dirty="0"/>
                  <a:t> </a:t>
                </a:r>
                <a:r>
                  <a:rPr lang="en-US" dirty="0" err="1"/>
                  <a:t>phỏng</a:t>
                </a:r>
                <a:r>
                  <a:rPr lang="en-US" dirty="0"/>
                  <a:t> </a:t>
                </a:r>
                <a:r>
                  <a:rPr lang="en-US" dirty="0" err="1"/>
                  <a:t>quá</a:t>
                </a:r>
                <a:r>
                  <a:rPr lang="en-US" dirty="0"/>
                  <a:t> </a:t>
                </a:r>
                <a:r>
                  <a:rPr lang="en-US" dirty="0" err="1"/>
                  <a:t>trình</a:t>
                </a:r>
                <a:r>
                  <a:rPr lang="en-US" dirty="0"/>
                  <a:t> </a:t>
                </a:r>
                <a:r>
                  <a:rPr lang="en-US" dirty="0" err="1"/>
                  <a:t>tôi</a:t>
                </a:r>
                <a:r>
                  <a:rPr lang="en-US" dirty="0"/>
                  <a:t> ủ </a:t>
                </a:r>
                <a:r>
                  <a:rPr lang="en-US" dirty="0" err="1"/>
                  <a:t>vật</a:t>
                </a:r>
                <a:r>
                  <a:rPr lang="en-US" dirty="0"/>
                  <a:t> </a:t>
                </a:r>
                <a:r>
                  <a:rPr lang="en-US" dirty="0" err="1"/>
                  <a:t>liệu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=10000000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=0.99995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=10000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514350" indent="-514350">
                  <a:buFont typeface="+mj-lt"/>
                  <a:buAutoNum type="alphaLcParenR"/>
                </a:pPr>
                <a:endParaRPr lang="en-US" sz="280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CAD7FC02-11B2-D575-3906-46AC82E84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 r="-1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52496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99CDE-7477-55CF-FA3D-E34209B93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E677F9-4FB6-02B0-0B0B-D2ADABF99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90337C-A89B-B786-DA1D-97943E6CA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6"/>
            </a:pPr>
            <a:r>
              <a:rPr lang="en-US" dirty="0"/>
              <a:t>KẾT QUẢ THỰC NGHIỆM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291997-AB94-15B2-C647-A26F554F33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514350" indent="-514350" algn="ctr">
              <a:buFont typeface="+mj-lt"/>
              <a:buAutoNum type="arabicPeriod" startAt="2"/>
            </a:pPr>
            <a:r>
              <a:rPr lang="en-US" b="1" dirty="0" err="1"/>
              <a:t>Kết</a:t>
            </a:r>
            <a:r>
              <a:rPr lang="en-US" b="1" dirty="0"/>
              <a:t> </a:t>
            </a:r>
            <a:r>
              <a:rPr lang="en-US" b="1" dirty="0" err="1"/>
              <a:t>quả</a:t>
            </a:r>
            <a:r>
              <a:rPr lang="en-US" b="1" dirty="0"/>
              <a:t> </a:t>
            </a:r>
            <a:r>
              <a:rPr lang="en-US" b="1" dirty="0" err="1"/>
              <a:t>của</a:t>
            </a:r>
            <a:r>
              <a:rPr lang="en-US" b="1" dirty="0"/>
              <a:t> </a:t>
            </a:r>
            <a:r>
              <a:rPr lang="en-US" b="1" dirty="0" err="1"/>
              <a:t>các</a:t>
            </a:r>
            <a:r>
              <a:rPr lang="en-US" b="1" dirty="0"/>
              <a:t> </a:t>
            </a:r>
            <a:r>
              <a:rPr lang="en-US" b="1" dirty="0" err="1"/>
              <a:t>bộ</a:t>
            </a:r>
            <a:r>
              <a:rPr lang="en-US" b="1" dirty="0"/>
              <a:t> </a:t>
            </a:r>
            <a:r>
              <a:rPr lang="en-US" b="1" dirty="0" err="1"/>
              <a:t>giải</a:t>
            </a:r>
            <a:r>
              <a:rPr lang="en-US" b="1" dirty="0"/>
              <a:t> </a:t>
            </a:r>
            <a:r>
              <a:rPr lang="en-US" b="1" dirty="0" err="1"/>
              <a:t>chính</a:t>
            </a:r>
            <a:r>
              <a:rPr lang="en-US" b="1" dirty="0"/>
              <a:t> </a:t>
            </a:r>
            <a:r>
              <a:rPr lang="en-US" b="1" dirty="0" err="1"/>
              <a:t>xác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algn="just"/>
            <a:r>
              <a:rPr lang="en-US" dirty="0" err="1"/>
              <a:t>Hoạt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lớn</a:t>
            </a:r>
            <a:r>
              <a:rPr lang="en-US" dirty="0"/>
              <a:t>.</a:t>
            </a:r>
          </a:p>
          <a:p>
            <a:pPr algn="just"/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phép</a:t>
            </a:r>
            <a:r>
              <a:rPr lang="en-US" dirty="0"/>
              <a:t> (</a:t>
            </a:r>
            <a:r>
              <a:rPr lang="en-US" dirty="0" err="1"/>
              <a:t>mười</a:t>
            </a:r>
            <a:r>
              <a:rPr lang="en-US" dirty="0"/>
              <a:t> </a:t>
            </a:r>
            <a:r>
              <a:rPr lang="en-US" dirty="0" err="1"/>
              <a:t>phút</a:t>
            </a:r>
            <a:r>
              <a:rPr lang="en-US" dirty="0"/>
              <a:t>)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lớn</a:t>
            </a:r>
            <a:r>
              <a:rPr lang="en-US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37BB30-1CA9-60AC-9462-12EAE7766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742" y="1464816"/>
            <a:ext cx="4678516" cy="3014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5649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3817-A75C-FFA2-89E7-14344B627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4AAE08-87BA-645A-F7AC-3C5F1E36A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CD227C-89C4-07BA-E569-65A615241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6"/>
            </a:pPr>
            <a:r>
              <a:rPr lang="en-US" dirty="0"/>
              <a:t>KẾT QUẢ THỰC NGHIỆM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4238F-879A-AF31-E667-3175318F5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514350" indent="-514350" algn="ctr">
              <a:buFont typeface="+mj-lt"/>
              <a:buAutoNum type="arabicPeriod" startAt="3"/>
            </a:pPr>
            <a:r>
              <a:rPr lang="en-US" b="1" dirty="0" err="1"/>
              <a:t>Kết</a:t>
            </a:r>
            <a:r>
              <a:rPr lang="en-US" b="1" dirty="0"/>
              <a:t> </a:t>
            </a:r>
            <a:r>
              <a:rPr lang="en-US" b="1" dirty="0" err="1"/>
              <a:t>quả</a:t>
            </a:r>
            <a:r>
              <a:rPr lang="en-US" b="1" dirty="0"/>
              <a:t> </a:t>
            </a:r>
            <a:r>
              <a:rPr lang="en-US" b="1" dirty="0" err="1"/>
              <a:t>của</a:t>
            </a:r>
            <a:r>
              <a:rPr lang="en-US" b="1" dirty="0"/>
              <a:t> </a:t>
            </a:r>
            <a:r>
              <a:rPr lang="en-US" b="1" dirty="0" err="1"/>
              <a:t>tìm</a:t>
            </a:r>
            <a:r>
              <a:rPr lang="en-US" b="1" dirty="0"/>
              <a:t> </a:t>
            </a:r>
            <a:r>
              <a:rPr lang="en-US" b="1" dirty="0" err="1"/>
              <a:t>kiếm</a:t>
            </a:r>
            <a:r>
              <a:rPr lang="en-US" b="1" dirty="0"/>
              <a:t> </a:t>
            </a:r>
            <a:r>
              <a:rPr lang="en-US" b="1" dirty="0" err="1"/>
              <a:t>leo</a:t>
            </a:r>
            <a:r>
              <a:rPr lang="en-US" b="1" dirty="0"/>
              <a:t> </a:t>
            </a:r>
            <a:r>
              <a:rPr lang="en-US" b="1" dirty="0" err="1"/>
              <a:t>đồi</a:t>
            </a:r>
            <a:endParaRPr lang="en-US" dirty="0"/>
          </a:p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giữa</a:t>
            </a:r>
            <a:r>
              <a:rPr lang="en-US" dirty="0"/>
              <a:t> </a:t>
            </a:r>
            <a:r>
              <a:rPr lang="en-US" dirty="0" err="1"/>
              <a:t>ba</a:t>
            </a:r>
            <a:r>
              <a:rPr lang="en-US" dirty="0"/>
              <a:t> </a:t>
            </a:r>
            <a:r>
              <a:rPr lang="en-US" dirty="0" err="1"/>
              <a:t>lần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chênh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lệch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.</a:t>
            </a:r>
          </a:p>
          <a:p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dùng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phương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tham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lam.</a:t>
            </a:r>
          </a:p>
          <a:p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mắc</a:t>
            </a:r>
            <a:r>
              <a:rPr lang="en-US" dirty="0"/>
              <a:t> </a:t>
            </a:r>
            <a:r>
              <a:rPr lang="en-US" dirty="0" err="1"/>
              <a:t>kẹt</a:t>
            </a:r>
            <a:r>
              <a:rPr lang="en-US" dirty="0"/>
              <a:t> ở </a:t>
            </a:r>
            <a:r>
              <a:rPr lang="en-US" dirty="0" err="1"/>
              <a:t>các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tối</a:t>
            </a:r>
            <a:r>
              <a:rPr lang="en-US" dirty="0"/>
              <a:t>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cục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7558B7-6705-4063-D32A-6E9DFE2F9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9239" y="1379482"/>
            <a:ext cx="4789684" cy="501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1626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3285E-A2F4-6AA1-769B-E77D9BECD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F25031-F0B6-5521-152A-62EDAC278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B2E5A5-4E17-F0DB-9038-1A5DFC080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6"/>
            </a:pPr>
            <a:r>
              <a:rPr lang="en-US" dirty="0"/>
              <a:t>KẾT QUẢ THỰC NGHIỆM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0106F3-4A9A-F537-05E7-FBA2B967F5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514350" indent="-514350" algn="ctr">
              <a:buFont typeface="+mj-lt"/>
              <a:buAutoNum type="arabicPeriod" startAt="4"/>
            </a:pPr>
            <a:r>
              <a:rPr lang="en-US" b="1" dirty="0" err="1"/>
              <a:t>Kết</a:t>
            </a:r>
            <a:r>
              <a:rPr lang="en-US" b="1" dirty="0"/>
              <a:t> </a:t>
            </a:r>
            <a:r>
              <a:rPr lang="en-US" b="1" dirty="0" err="1"/>
              <a:t>quả</a:t>
            </a:r>
            <a:r>
              <a:rPr lang="en-US" b="1" dirty="0"/>
              <a:t> </a:t>
            </a:r>
            <a:r>
              <a:rPr lang="en-US" b="1" dirty="0" err="1"/>
              <a:t>của</a:t>
            </a:r>
            <a:r>
              <a:rPr lang="en-US" b="1" dirty="0"/>
              <a:t> </a:t>
            </a:r>
            <a:r>
              <a:rPr lang="en-US" b="1" dirty="0" err="1"/>
              <a:t>tìm</a:t>
            </a:r>
            <a:r>
              <a:rPr lang="en-US" b="1" dirty="0"/>
              <a:t> </a:t>
            </a:r>
            <a:r>
              <a:rPr lang="en-US" b="1" dirty="0" err="1"/>
              <a:t>kiếm</a:t>
            </a:r>
            <a:r>
              <a:rPr lang="en-US" b="1" dirty="0"/>
              <a:t> </a:t>
            </a:r>
            <a:r>
              <a:rPr lang="en-US" b="1" dirty="0" err="1"/>
              <a:t>mô</a:t>
            </a:r>
            <a:r>
              <a:rPr lang="en-US" b="1" dirty="0"/>
              <a:t> </a:t>
            </a:r>
            <a:r>
              <a:rPr lang="en-US" b="1" dirty="0" err="1"/>
              <a:t>phỏng</a:t>
            </a:r>
            <a:r>
              <a:rPr lang="en-US" b="1" dirty="0"/>
              <a:t> </a:t>
            </a:r>
            <a:r>
              <a:rPr lang="en-US" b="1" dirty="0" err="1"/>
              <a:t>quá</a:t>
            </a:r>
            <a:r>
              <a:rPr lang="en-US" b="1" dirty="0"/>
              <a:t> </a:t>
            </a:r>
            <a:r>
              <a:rPr lang="en-US" b="1" dirty="0" err="1"/>
              <a:t>trình</a:t>
            </a:r>
            <a:r>
              <a:rPr lang="en-US" b="1" dirty="0"/>
              <a:t> </a:t>
            </a:r>
            <a:r>
              <a:rPr lang="en-US" b="1" dirty="0" err="1"/>
              <a:t>tôi</a:t>
            </a:r>
            <a:r>
              <a:rPr lang="en-US" b="1" dirty="0"/>
              <a:t> ủ </a:t>
            </a:r>
            <a:r>
              <a:rPr lang="en-US" b="1" dirty="0" err="1"/>
              <a:t>vật</a:t>
            </a:r>
            <a:r>
              <a:rPr lang="en-US" b="1" dirty="0"/>
              <a:t> </a:t>
            </a:r>
            <a:r>
              <a:rPr lang="en-US" b="1" dirty="0" err="1"/>
              <a:t>liệu</a:t>
            </a:r>
            <a:endParaRPr lang="en-US" dirty="0"/>
          </a:p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giữa</a:t>
            </a:r>
            <a:r>
              <a:rPr lang="en-US" dirty="0"/>
              <a:t> </a:t>
            </a:r>
            <a:r>
              <a:rPr lang="en-US" dirty="0" err="1"/>
              <a:t>ba</a:t>
            </a:r>
            <a:r>
              <a:rPr lang="en-US" dirty="0"/>
              <a:t> </a:t>
            </a:r>
            <a:r>
              <a:rPr lang="en-US" dirty="0" err="1"/>
              <a:t>lần</a:t>
            </a:r>
            <a:r>
              <a:rPr lang="en-US" dirty="0"/>
              <a:t> </a:t>
            </a:r>
            <a:r>
              <a:rPr lang="en-US" dirty="0" err="1"/>
              <a:t>chạy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chênh</a:t>
            </a:r>
            <a:r>
              <a:rPr lang="en-US" dirty="0"/>
              <a:t> </a:t>
            </a:r>
            <a:r>
              <a:rPr lang="en-US" dirty="0" err="1"/>
              <a:t>lệch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.</a:t>
            </a:r>
          </a:p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cải</a:t>
            </a:r>
            <a:r>
              <a:rPr lang="en-US" dirty="0"/>
              <a:t> </a:t>
            </a:r>
            <a:r>
              <a:rPr lang="en-US" dirty="0" err="1"/>
              <a:t>thiện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và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ngắn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so</a:t>
            </a:r>
          </a:p>
          <a:p>
            <a:pPr marL="0" indent="0">
              <a:buNone/>
            </a:pP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</a:t>
            </a:r>
            <a:r>
              <a:rPr lang="en-US" dirty="0" err="1"/>
              <a:t>đồi</a:t>
            </a:r>
            <a:r>
              <a:rPr lang="en-US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B3A3BC-390D-0601-151D-98AE205B17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617" y="1765337"/>
            <a:ext cx="3946306" cy="4651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1718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E9BE0-5668-013A-1008-2067A9394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1FB4E4-51FE-3A43-D57F-2673C23F3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2FEA8F-642D-EA45-494F-C5CA6AA9F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6"/>
            </a:pPr>
            <a:r>
              <a:rPr lang="en-US" dirty="0"/>
              <a:t>KẾT QUẢ THỰC NGHIỆM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8EF5B-6D2D-F379-2844-9F2F91FF91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514350" indent="-514350" algn="ctr">
              <a:buFont typeface="+mj-lt"/>
              <a:buAutoNum type="arabicPeriod" startAt="5"/>
            </a:pPr>
            <a:r>
              <a:rPr lang="en-US" b="1" dirty="0" err="1"/>
              <a:t>Độ</a:t>
            </a:r>
            <a:r>
              <a:rPr lang="en-US" b="1" dirty="0"/>
              <a:t> </a:t>
            </a:r>
            <a:r>
              <a:rPr lang="en-US" b="1" dirty="0" err="1"/>
              <a:t>đóng</a:t>
            </a:r>
            <a:r>
              <a:rPr lang="en-US" b="1" dirty="0"/>
              <a:t> </a:t>
            </a:r>
            <a:r>
              <a:rPr lang="en-US" b="1" dirty="0" err="1"/>
              <a:t>góp</a:t>
            </a:r>
            <a:r>
              <a:rPr lang="en-US" b="1" dirty="0"/>
              <a:t> </a:t>
            </a:r>
            <a:r>
              <a:rPr lang="en-US" b="1" dirty="0" err="1"/>
              <a:t>của</a:t>
            </a:r>
            <a:r>
              <a:rPr lang="en-US" b="1" dirty="0"/>
              <a:t> </a:t>
            </a:r>
            <a:r>
              <a:rPr lang="en-US" b="1" dirty="0" err="1"/>
              <a:t>các</a:t>
            </a:r>
            <a:r>
              <a:rPr lang="en-US" b="1" dirty="0"/>
              <a:t> </a:t>
            </a:r>
            <a:r>
              <a:rPr lang="en-US" b="1" dirty="0" err="1"/>
              <a:t>toán</a:t>
            </a:r>
            <a:r>
              <a:rPr lang="en-US" b="1" dirty="0"/>
              <a:t> </a:t>
            </a:r>
            <a:r>
              <a:rPr lang="en-US" b="1" dirty="0" err="1"/>
              <a:t>tử</a:t>
            </a:r>
            <a:r>
              <a:rPr lang="en-US" b="1" dirty="0"/>
              <a:t> </a:t>
            </a:r>
            <a:r>
              <a:rPr lang="en-US" b="1" dirty="0" err="1"/>
              <a:t>biến</a:t>
            </a:r>
            <a:r>
              <a:rPr lang="en-US" b="1" dirty="0"/>
              <a:t> </a:t>
            </a:r>
            <a:r>
              <a:rPr lang="en-US" b="1" dirty="0" err="1"/>
              <a:t>đổi</a:t>
            </a:r>
            <a:r>
              <a:rPr lang="en-US" b="1" dirty="0"/>
              <a:t> </a:t>
            </a:r>
            <a:r>
              <a:rPr lang="en-US" b="1" dirty="0" err="1"/>
              <a:t>lời</a:t>
            </a:r>
            <a:r>
              <a:rPr lang="en-US" b="1" dirty="0"/>
              <a:t> </a:t>
            </a:r>
            <a:r>
              <a:rPr lang="en-US" b="1" dirty="0" err="1"/>
              <a:t>giải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algn="just"/>
            <a:r>
              <a:rPr lang="en-US" dirty="0"/>
              <a:t>Ba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đóng</a:t>
            </a:r>
            <a:r>
              <a:rPr lang="en-US" dirty="0"/>
              <a:t> </a:t>
            </a:r>
            <a:r>
              <a:rPr lang="en-US" dirty="0" err="1"/>
              <a:t>góp</a:t>
            </a:r>
            <a:r>
              <a:rPr lang="en-US" dirty="0"/>
              <a:t> </a:t>
            </a:r>
            <a:r>
              <a:rPr lang="en-US" dirty="0" err="1"/>
              <a:t>gần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đương</a:t>
            </a:r>
            <a:r>
              <a:rPr lang="en-US" dirty="0"/>
              <a:t> </a:t>
            </a:r>
            <a:r>
              <a:rPr lang="en-US" dirty="0" err="1"/>
              <a:t>nhau</a:t>
            </a:r>
            <a:r>
              <a:rPr lang="en-US" dirty="0"/>
              <a:t>.</a:t>
            </a:r>
          </a:p>
          <a:p>
            <a:pPr algn="just"/>
            <a:r>
              <a:rPr lang="en-US" dirty="0"/>
              <a:t>Trong </a:t>
            </a:r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phỏng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tôi</a:t>
            </a:r>
            <a:r>
              <a:rPr lang="en-US" dirty="0"/>
              <a:t> ủ </a:t>
            </a:r>
            <a:r>
              <a:rPr lang="en-US" dirty="0" err="1"/>
              <a:t>vật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,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 </a:t>
            </a:r>
            <a:r>
              <a:rPr lang="en-US" dirty="0" err="1"/>
              <a:t>đóng</a:t>
            </a:r>
            <a:r>
              <a:rPr lang="en-US" dirty="0"/>
              <a:t> </a:t>
            </a:r>
            <a:r>
              <a:rPr lang="en-US" dirty="0" err="1"/>
              <a:t>góp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lần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phương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thường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0E12E0-5557-09F3-59D7-A5730CDDA7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420427"/>
            <a:ext cx="4173209" cy="26082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EA34B7-27B6-2658-1DFF-DB0763773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791" y="1420427"/>
            <a:ext cx="4173209" cy="260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521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91C7A-92F1-F00D-D2CA-DDB72760F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C65A30-0E58-538A-D452-20168DD7C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101442-8ED6-C0EF-C061-26D74BF58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 algn="ctr">
              <a:buFont typeface="+mj-lt"/>
              <a:buAutoNum type="romanUcPeriod" startAt="6"/>
            </a:pPr>
            <a:r>
              <a:rPr lang="en-US" dirty="0"/>
              <a:t>KẾT QUẢ THỰC NGHIỆM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E23B75A-DDFD-7C31-8DD5-1F955284AAA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pPr marL="514350" indent="-514350" algn="ctr">
                  <a:buFont typeface="+mj-lt"/>
                  <a:buAutoNum type="arabicPeriod" startAt="6"/>
                </a:pPr>
                <a:r>
                  <a:rPr lang="en-US" b="1" dirty="0"/>
                  <a:t>Chi </a:t>
                </a:r>
                <a:r>
                  <a:rPr lang="en-US" b="1" dirty="0" err="1"/>
                  <a:t>tiết</a:t>
                </a:r>
                <a:r>
                  <a:rPr lang="en-US" b="1" dirty="0"/>
                  <a:t> </a:t>
                </a:r>
                <a:r>
                  <a:rPr lang="en-US" b="1" dirty="0" err="1"/>
                  <a:t>các</a:t>
                </a:r>
                <a:r>
                  <a:rPr lang="en-US" b="1" dirty="0"/>
                  <a:t> </a:t>
                </a:r>
                <a:r>
                  <a:rPr lang="en-US" b="1" dirty="0" err="1"/>
                  <a:t>bước</a:t>
                </a:r>
                <a:r>
                  <a:rPr lang="en-US" b="1" dirty="0"/>
                  <a:t> </a:t>
                </a:r>
                <a:r>
                  <a:rPr lang="en-US" b="1" dirty="0" err="1"/>
                  <a:t>lặp</a:t>
                </a:r>
                <a:r>
                  <a:rPr lang="en-US" b="1" dirty="0"/>
                  <a:t> </a:t>
                </a:r>
                <a:r>
                  <a:rPr lang="en-US" b="1" dirty="0" err="1"/>
                  <a:t>của</a:t>
                </a:r>
                <a:r>
                  <a:rPr lang="en-US" b="1" dirty="0"/>
                  <a:t> </a:t>
                </a:r>
                <a:r>
                  <a:rPr lang="en-US" b="1" dirty="0" err="1"/>
                  <a:t>thuật</a:t>
                </a:r>
                <a:r>
                  <a:rPr lang="en-US" b="1" dirty="0"/>
                  <a:t> </a:t>
                </a:r>
                <a:r>
                  <a:rPr lang="en-US" b="1" dirty="0" err="1"/>
                  <a:t>toán</a:t>
                </a:r>
                <a:r>
                  <a:rPr lang="en-US" b="1" dirty="0"/>
                  <a:t> </a:t>
                </a:r>
                <a:r>
                  <a:rPr lang="en-US" b="1" dirty="0" err="1"/>
                  <a:t>tìm</a:t>
                </a:r>
                <a:r>
                  <a:rPr lang="en-US" b="1" dirty="0"/>
                  <a:t> </a:t>
                </a:r>
                <a:r>
                  <a:rPr lang="en-US" b="1" dirty="0" err="1"/>
                  <a:t>kiếm</a:t>
                </a:r>
                <a:r>
                  <a:rPr lang="en-US" b="1" dirty="0"/>
                  <a:t> </a:t>
                </a:r>
                <a:r>
                  <a:rPr lang="en-US" b="1" dirty="0" err="1"/>
                  <a:t>mô</a:t>
                </a:r>
                <a:r>
                  <a:rPr lang="en-US" b="1" dirty="0"/>
                  <a:t> </a:t>
                </a:r>
                <a:r>
                  <a:rPr lang="en-US" b="1" dirty="0" err="1"/>
                  <a:t>phỏng</a:t>
                </a:r>
                <a:r>
                  <a:rPr lang="en-US" b="1" dirty="0"/>
                  <a:t> </a:t>
                </a:r>
                <a:r>
                  <a:rPr lang="en-US" b="1" dirty="0" err="1"/>
                  <a:t>tôi</a:t>
                </a:r>
                <a:r>
                  <a:rPr lang="en-US" b="1" dirty="0"/>
                  <a:t> ủ </a:t>
                </a:r>
                <a:r>
                  <a:rPr lang="en-US" b="1" dirty="0" err="1"/>
                  <a:t>vật</a:t>
                </a:r>
                <a:r>
                  <a:rPr lang="en-US" b="1" dirty="0"/>
                  <a:t> </a:t>
                </a:r>
                <a:r>
                  <a:rPr lang="en-US" b="1" dirty="0" err="1"/>
                  <a:t>liệu</a:t>
                </a: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 algn="just">
                  <a:buNone/>
                </a:pPr>
                <a:endParaRPr lang="en-US" dirty="0"/>
              </a:p>
              <a:p>
                <a:pPr algn="just"/>
                <a:r>
                  <a:rPr lang="en-US" dirty="0" err="1"/>
                  <a:t>Tỷ</a:t>
                </a:r>
                <a:r>
                  <a:rPr lang="en-US" dirty="0"/>
                  <a:t> </a:t>
                </a:r>
                <a:r>
                  <a:rPr lang="en-US" dirty="0" err="1"/>
                  <a:t>lệ</a:t>
                </a:r>
                <a:r>
                  <a:rPr lang="en-US" dirty="0"/>
                  <a:t> </a:t>
                </a:r>
                <a:r>
                  <a:rPr lang="en-US" dirty="0" err="1"/>
                  <a:t>cập</a:t>
                </a:r>
                <a:r>
                  <a:rPr lang="en-US" dirty="0"/>
                  <a:t> </a:t>
                </a:r>
                <a:r>
                  <a:rPr lang="en-US" dirty="0" err="1"/>
                  <a:t>nhật</a:t>
                </a:r>
                <a:r>
                  <a:rPr lang="en-US" dirty="0"/>
                  <a:t> </a:t>
                </a:r>
                <a:r>
                  <a:rPr lang="en-US" dirty="0" err="1"/>
                  <a:t>lời</a:t>
                </a:r>
                <a:r>
                  <a:rPr lang="en-US" dirty="0"/>
                  <a:t> </a:t>
                </a:r>
                <a:r>
                  <a:rPr lang="en-US" dirty="0" err="1"/>
                  <a:t>giải</a:t>
                </a:r>
                <a:r>
                  <a:rPr lang="en-US" dirty="0"/>
                  <a:t> </a:t>
                </a:r>
                <a:r>
                  <a:rPr lang="en-US" dirty="0" err="1"/>
                  <a:t>mới</a:t>
                </a:r>
                <a:r>
                  <a:rPr lang="en-US" dirty="0"/>
                  <a:t>       </a:t>
                </a:r>
                <a:r>
                  <a:rPr lang="en-US" sz="1800" dirty="0"/>
                  <a:t> 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1/4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tổng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vòng</a:t>
                </a:r>
                <a:r>
                  <a:rPr lang="en-US" dirty="0"/>
                  <a:t> </a:t>
                </a:r>
                <a:r>
                  <a:rPr lang="en-US" dirty="0" err="1"/>
                  <a:t>lặp</a:t>
                </a:r>
                <a:r>
                  <a:rPr lang="en-US" dirty="0"/>
                  <a:t>.</a:t>
                </a:r>
              </a:p>
              <a:p>
                <a:pPr algn="just"/>
                <a:r>
                  <a:rPr lang="en-US" dirty="0"/>
                  <a:t>Tỷ </a:t>
                </a:r>
                <a:r>
                  <a:rPr lang="en-US" dirty="0" err="1"/>
                  <a:t>lệ</a:t>
                </a:r>
                <a:r>
                  <a:rPr lang="en-US" dirty="0"/>
                  <a:t> </a:t>
                </a:r>
                <a:r>
                  <a:rPr lang="en-US" dirty="0" err="1"/>
                  <a:t>chấp</a:t>
                </a:r>
                <a:r>
                  <a:rPr lang="en-US" dirty="0"/>
                  <a:t> </a:t>
                </a:r>
                <a:r>
                  <a:rPr lang="en-US" dirty="0" err="1"/>
                  <a:t>nhận</a:t>
                </a:r>
                <a:r>
                  <a:rPr lang="en-US" dirty="0"/>
                  <a:t> </a:t>
                </a:r>
                <a:r>
                  <a:rPr lang="en-US" dirty="0" err="1"/>
                  <a:t>lời</a:t>
                </a:r>
                <a:r>
                  <a:rPr lang="en-US" dirty="0"/>
                  <a:t> </a:t>
                </a:r>
                <a:r>
                  <a:rPr lang="en-US" dirty="0" err="1"/>
                  <a:t>giải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hơn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1/8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tổng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vòng</a:t>
                </a:r>
                <a:r>
                  <a:rPr lang="en-US" dirty="0"/>
                  <a:t> </a:t>
                </a:r>
                <a:r>
                  <a:rPr lang="en-US" dirty="0" err="1"/>
                  <a:t>lặp</a:t>
                </a:r>
                <a:r>
                  <a:rPr lang="en-US" dirty="0"/>
                  <a:t>.</a:t>
                </a:r>
              </a:p>
              <a:p>
                <a:pPr algn="just">
                  <a:buFont typeface="Cambria Math" panose="02040503050406030204" pitchFamily="18" charset="0"/>
                  <a:buChar char="⇒"/>
                </a:pP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khả</a:t>
                </a:r>
                <a:r>
                  <a:rPr lang="en-US" dirty="0"/>
                  <a:t> </a:t>
                </a:r>
                <a:r>
                  <a:rPr lang="en-US" dirty="0" err="1"/>
                  <a:t>năng</a:t>
                </a:r>
                <a:r>
                  <a:rPr lang="en-US" dirty="0"/>
                  <a:t> </a:t>
                </a:r>
                <a:r>
                  <a:rPr lang="en-US" dirty="0" err="1"/>
                  <a:t>thoát</a:t>
                </a:r>
                <a:r>
                  <a:rPr lang="en-US" dirty="0"/>
                  <a:t> </a:t>
                </a:r>
                <a:r>
                  <a:rPr lang="en-US" dirty="0" err="1"/>
                  <a:t>khỏi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tối</a:t>
                </a:r>
                <a:r>
                  <a:rPr lang="en-US" dirty="0"/>
                  <a:t> </a:t>
                </a:r>
                <a:r>
                  <a:rPr lang="en-US" dirty="0" err="1"/>
                  <a:t>ưu</a:t>
                </a:r>
                <a:r>
                  <a:rPr lang="en-US" dirty="0"/>
                  <a:t> </a:t>
                </a:r>
                <a:r>
                  <a:rPr lang="en-US" dirty="0" err="1"/>
                  <a:t>cục</a:t>
                </a:r>
                <a:r>
                  <a:rPr lang="en-US" dirty="0"/>
                  <a:t> </a:t>
                </a:r>
                <a:r>
                  <a:rPr lang="en-US" dirty="0" err="1"/>
                  <a:t>bộ</a:t>
                </a:r>
                <a:r>
                  <a:rPr lang="en-US" dirty="0"/>
                  <a:t>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E23B75A-DDFD-7C31-8DD5-1F955284AA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1406" t="-2019" r="-1477" b="-71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5D403C0-9BF9-B94A-1A4C-2C026F0308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2720" y="1799947"/>
            <a:ext cx="6418559" cy="267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5330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1031</TotalTime>
  <Words>1429</Words>
  <Application>Microsoft Office PowerPoint</Application>
  <PresentationFormat>On-screen Show (4:3)</PresentationFormat>
  <Paragraphs>197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Calibri</vt:lpstr>
      <vt:lpstr>Cambria Math</vt:lpstr>
      <vt:lpstr>Consolas</vt:lpstr>
      <vt:lpstr>Lato</vt:lpstr>
      <vt:lpstr>Wingdings</vt:lpstr>
      <vt:lpstr>Office Theme</vt:lpstr>
      <vt:lpstr>PowerPoint Presentation</vt:lpstr>
      <vt:lpstr>THỐNG KÊ CÔNG VIỆC</vt:lpstr>
      <vt:lpstr>TỔNG QUAN</vt:lpstr>
      <vt:lpstr>PHÁT BIỂU BÀI TOÁN</vt:lpstr>
      <vt:lpstr>CÁC PHƯƠNG PHÁP GIẢI CHÍNH XÁC</vt:lpstr>
      <vt:lpstr>CÁC PHƯƠNG PHÁP GIẢI CHÍNH XÁC</vt:lpstr>
      <vt:lpstr>CÁC PHƯƠNG PHÁP GIẢI CHÍNH XÁC</vt:lpstr>
      <vt:lpstr>CÁC PHƯƠNG PHÁP GIẢI CHÍNH XÁC</vt:lpstr>
      <vt:lpstr>MÔ HÌNH HÓA BÀI TOÁN</vt:lpstr>
      <vt:lpstr>MÔ HÌNH HÓA BÀI TOÁN</vt:lpstr>
      <vt:lpstr>MÔ HÌNH HÓA BÀI TOÁN</vt:lpstr>
      <vt:lpstr>MÔ HÌNH HÓA BÀI TOÁN</vt:lpstr>
      <vt:lpstr>MÔ HÌNH HÓA BÀI TOÁN</vt:lpstr>
      <vt:lpstr>CÁC PHƯƠNG PHÁP THAM LAM</vt:lpstr>
      <vt:lpstr>CÁC PHƯƠNG PHÁP TÌM KIẾM CỤC BỘ</vt:lpstr>
      <vt:lpstr>CÁC PHƯƠNG PHÁP TÌM KIẾM CỤC BỘ</vt:lpstr>
      <vt:lpstr>CÁC PHƯƠNG PHÁP TÌM KIẾM CỤC BỘ</vt:lpstr>
      <vt:lpstr>KẾT QUẢ THỰC NGHIỆM</vt:lpstr>
      <vt:lpstr>KẾT QUẢ THỰC NGHIỆM</vt:lpstr>
      <vt:lpstr>KẾT QUẢ THỰC NGHIỆM</vt:lpstr>
      <vt:lpstr>KẾT QUẢ THỰC NGHIỆM</vt:lpstr>
      <vt:lpstr>KẾT QUẢ THỰC NGHIỆM</vt:lpstr>
      <vt:lpstr>KẾT QUẢ THỰC NGHIỆM</vt:lpstr>
      <vt:lpstr>KẾT QUẢ THỰC NGHIỆM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Vu Tien Dat 20235035</cp:lastModifiedBy>
  <cp:revision>91</cp:revision>
  <dcterms:created xsi:type="dcterms:W3CDTF">2021-05-28T04:32:29Z</dcterms:created>
  <dcterms:modified xsi:type="dcterms:W3CDTF">2026-06-17T07:59:36Z</dcterms:modified>
</cp:coreProperties>
</file>